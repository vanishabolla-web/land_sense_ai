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829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C9A84C"/>
          </a:solidFill>
          <a:ln w="12700">
            <a:solidFill>
              <a:srgbClr val="C9A84C"/>
            </a:solidFill>
            <a:prstDash val="solid"/>
          </a:ln>
        </p:spPr>
      </p:sp>
      <p:sp>
        <p:nvSpPr>
          <p:cNvPr id="3" name="Shape 1"/>
          <p:cNvSpPr/>
          <p:nvPr/>
        </p:nvSpPr>
        <p:spPr>
          <a:xfrm>
            <a:off x="0" y="4983480"/>
            <a:ext cx="9144000" cy="164592"/>
          </a:xfrm>
          <a:prstGeom prst="rect">
            <a:avLst/>
          </a:prstGeom>
          <a:solidFill>
            <a:srgbClr val="C9A84C"/>
          </a:solidFill>
          <a:ln w="12700">
            <a:solidFill>
              <a:srgbClr val="C9A84C"/>
            </a:solidFill>
            <a:prstDash val="solid"/>
          </a:ln>
        </p:spPr>
      </p:sp>
      <p:sp>
        <p:nvSpPr>
          <p:cNvPr id="4" name="Shape 2"/>
          <p:cNvSpPr/>
          <p:nvPr/>
        </p:nvSpPr>
        <p:spPr>
          <a:xfrm>
            <a:off x="502920" y="1097280"/>
            <a:ext cx="73152" cy="2926080"/>
          </a:xfrm>
          <a:prstGeom prst="rect">
            <a:avLst/>
          </a:prstGeom>
          <a:solidFill>
            <a:srgbClr val="C9A84C"/>
          </a:solidFill>
          <a:ln w="12700">
            <a:solidFill>
              <a:srgbClr val="C9A84C"/>
            </a:solidFill>
            <a:prstDash val="solid"/>
          </a:ln>
        </p:spPr>
      </p:sp>
      <p:sp>
        <p:nvSpPr>
          <p:cNvPr id="5" name="Text 3"/>
          <p:cNvSpPr/>
          <p:nvPr/>
        </p:nvSpPr>
        <p:spPr>
          <a:xfrm>
            <a:off x="777240" y="1097280"/>
            <a:ext cx="7772400" cy="1645920"/>
          </a:xfrm>
          <a:prstGeom prst="rect">
            <a:avLst/>
          </a:prstGeom>
          <a:noFill/>
          <a:ln/>
        </p:spPr>
        <p:txBody>
          <a:bodyPr wrap="square"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FUTURE LAND PRICE</a:t>
            </a:r>
            <a:endParaRPr lang="en-US" sz="4000" dirty="0"/>
          </a:p>
          <a:p>
            <a:pPr marL="0" indent="0">
              <a:buNone/>
            </a:pPr>
            <a:r>
              <a:rPr lang="en-US" sz="4000" b="1" dirty="0">
                <a:solidFill>
                  <a:srgbClr val="FFFFFF"/>
                </a:solidFill>
                <a:latin typeface="Georgia" pitchFamily="34" charset="0"/>
                <a:ea typeface="Georgia" pitchFamily="34" charset="-122"/>
                <a:cs typeface="Georgia" pitchFamily="34" charset="-120"/>
              </a:rPr>
              <a:t>PREDICTION</a:t>
            </a:r>
            <a:endParaRPr lang="en-US" sz="4000" dirty="0"/>
          </a:p>
        </p:txBody>
      </p:sp>
      <p:sp>
        <p:nvSpPr>
          <p:cNvPr id="6" name="Text 4"/>
          <p:cNvSpPr/>
          <p:nvPr/>
        </p:nvSpPr>
        <p:spPr>
          <a:xfrm>
            <a:off x="777240" y="2743200"/>
            <a:ext cx="7772400" cy="548640"/>
          </a:xfrm>
          <a:prstGeom prst="rect">
            <a:avLst/>
          </a:prstGeom>
          <a:noFill/>
          <a:ln/>
        </p:spPr>
        <p:txBody>
          <a:bodyPr wrap="square" rtlCol="0" anchor="ctr"/>
          <a:lstStyle/>
          <a:p>
            <a:pPr marL="0" indent="0">
              <a:buNone/>
            </a:pPr>
            <a:r>
              <a:rPr lang="en-US" sz="1500" i="1" dirty="0">
                <a:solidFill>
                  <a:srgbClr val="C9A84C"/>
                </a:solidFill>
                <a:latin typeface="Calibri" pitchFamily="34" charset="0"/>
                <a:ea typeface="Calibri" pitchFamily="34" charset="-122"/>
                <a:cs typeface="Calibri" pitchFamily="34" charset="-120"/>
              </a:rPr>
              <a:t>A machine learning approach to predict land price per square foot</a:t>
            </a:r>
            <a:endParaRPr lang="en-US" sz="1500" dirty="0"/>
          </a:p>
        </p:txBody>
      </p:sp>
      <p:sp>
        <p:nvSpPr>
          <p:cNvPr id="7" name="Text 5"/>
          <p:cNvSpPr/>
          <p:nvPr/>
        </p:nvSpPr>
        <p:spPr>
          <a:xfrm>
            <a:off x="777240" y="3474720"/>
            <a:ext cx="7955280" cy="502920"/>
          </a:xfrm>
          <a:prstGeom prst="rect">
            <a:avLst/>
          </a:prstGeom>
          <a:noFill/>
          <a:ln/>
        </p:spPr>
        <p:txBody>
          <a:bodyPr wrap="square" rtlCol="0" anchor="ctr"/>
          <a:lstStyle/>
          <a:p>
            <a:pPr marL="0" indent="0">
              <a:buNone/>
            </a:pPr>
            <a:r>
              <a:rPr lang="en-US" sz="1300" dirty="0">
                <a:solidFill>
                  <a:srgbClr val="B0BAC9"/>
                </a:solidFill>
                <a:latin typeface="Calibri" pitchFamily="34" charset="0"/>
                <a:ea typeface="Calibri" pitchFamily="34" charset="-122"/>
                <a:cs typeface="Calibri" pitchFamily="34" charset="-120"/>
              </a:rPr>
              <a:t>VANISHA BOLLA   |   SWAPNA THATIPARTHI   |   ANANDINI KURAPATI   |   SAIKUMAR GUJJALVAR   |   SHIVASAI PALOJU   |   ARUN KUMAR KUMMARI   |   VAMSHI KUMMARI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Problem Statement</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Shape 5"/>
          <p:cNvSpPr/>
          <p:nvPr/>
        </p:nvSpPr>
        <p:spPr>
          <a:xfrm>
            <a:off x="365760" y="1115568"/>
            <a:ext cx="64008" cy="566928"/>
          </a:xfrm>
          <a:prstGeom prst="rect">
            <a:avLst/>
          </a:prstGeom>
          <a:solidFill>
            <a:srgbClr val="C9A84C"/>
          </a:solidFill>
          <a:ln w="12700">
            <a:solidFill>
              <a:srgbClr val="C9A84C"/>
            </a:solidFill>
            <a:prstDash val="solid"/>
          </a:ln>
        </p:spPr>
      </p:sp>
      <p:sp>
        <p:nvSpPr>
          <p:cNvPr id="8" name="Text 6"/>
          <p:cNvSpPr/>
          <p:nvPr/>
        </p:nvSpPr>
        <p:spPr>
          <a:xfrm>
            <a:off x="594360" y="1115568"/>
            <a:ext cx="8229600" cy="658368"/>
          </a:xfrm>
          <a:prstGeom prst="rect">
            <a:avLst/>
          </a:prstGeom>
          <a:noFill/>
          <a:ln/>
        </p:spPr>
        <p:txBody>
          <a:bodyPr wrap="square" rtlCol="0" anchor="t"/>
          <a:lstStyle/>
          <a:p>
            <a:pPr marL="0" indent="0">
              <a:buNone/>
            </a:pPr>
            <a:r>
              <a:rPr lang="en-US" sz="1400" dirty="0">
                <a:solidFill>
                  <a:srgbClr val="2C3E5A"/>
                </a:solidFill>
                <a:latin typeface="Calibri" pitchFamily="34" charset="0"/>
                <a:ea typeface="Calibri" pitchFamily="34" charset="-122"/>
                <a:cs typeface="Calibri" pitchFamily="34" charset="-120"/>
              </a:rPr>
              <a:t>In real estate, accurate land price estimation is critical for investment decisions. Even small miscalculations can lead to financial losses, missed opportunities, or inefficient resource allocation.</a:t>
            </a:r>
            <a:endParaRPr lang="en-US" sz="1400" dirty="0"/>
          </a:p>
        </p:txBody>
      </p:sp>
      <p:sp>
        <p:nvSpPr>
          <p:cNvPr id="9" name="Shape 7"/>
          <p:cNvSpPr/>
          <p:nvPr/>
        </p:nvSpPr>
        <p:spPr>
          <a:xfrm>
            <a:off x="365760" y="2011680"/>
            <a:ext cx="64008" cy="566928"/>
          </a:xfrm>
          <a:prstGeom prst="rect">
            <a:avLst/>
          </a:prstGeom>
          <a:solidFill>
            <a:srgbClr val="C9A84C"/>
          </a:solidFill>
          <a:ln w="12700">
            <a:solidFill>
              <a:srgbClr val="C9A84C"/>
            </a:solidFill>
            <a:prstDash val="solid"/>
          </a:ln>
        </p:spPr>
      </p:sp>
      <p:sp>
        <p:nvSpPr>
          <p:cNvPr id="10" name="Text 8"/>
          <p:cNvSpPr/>
          <p:nvPr/>
        </p:nvSpPr>
        <p:spPr>
          <a:xfrm>
            <a:off x="594360" y="2011680"/>
            <a:ext cx="8229600" cy="658368"/>
          </a:xfrm>
          <a:prstGeom prst="rect">
            <a:avLst/>
          </a:prstGeom>
          <a:noFill/>
          <a:ln/>
        </p:spPr>
        <p:txBody>
          <a:bodyPr wrap="square" rtlCol="0" anchor="t"/>
          <a:lstStyle/>
          <a:p>
            <a:pPr marL="0" indent="0">
              <a:buNone/>
            </a:pPr>
            <a:r>
              <a:rPr lang="en-US" sz="1400" dirty="0">
                <a:solidFill>
                  <a:srgbClr val="2C3E5A"/>
                </a:solidFill>
                <a:latin typeface="Calibri" pitchFamily="34" charset="0"/>
                <a:ea typeface="Calibri" pitchFamily="34" charset="-122"/>
                <a:cs typeface="Calibri" pitchFamily="34" charset="-120"/>
              </a:rPr>
              <a:t>Traditional land valuation methods—based on manual analysis, limited historical data, and subjective judgment—are slow, inconsistent, and fail to capture rapid urbanization changes.</a:t>
            </a:r>
            <a:endParaRPr lang="en-US" sz="1400" dirty="0"/>
          </a:p>
        </p:txBody>
      </p:sp>
      <p:sp>
        <p:nvSpPr>
          <p:cNvPr id="11" name="Shape 9"/>
          <p:cNvSpPr/>
          <p:nvPr/>
        </p:nvSpPr>
        <p:spPr>
          <a:xfrm>
            <a:off x="365760" y="2907792"/>
            <a:ext cx="64008" cy="566928"/>
          </a:xfrm>
          <a:prstGeom prst="rect">
            <a:avLst/>
          </a:prstGeom>
          <a:solidFill>
            <a:srgbClr val="C9A84C"/>
          </a:solidFill>
          <a:ln w="12700">
            <a:solidFill>
              <a:srgbClr val="C9A84C"/>
            </a:solidFill>
            <a:prstDash val="solid"/>
          </a:ln>
        </p:spPr>
      </p:sp>
      <p:sp>
        <p:nvSpPr>
          <p:cNvPr id="12" name="Text 10"/>
          <p:cNvSpPr/>
          <p:nvPr/>
        </p:nvSpPr>
        <p:spPr>
          <a:xfrm>
            <a:off x="594360" y="2907792"/>
            <a:ext cx="8229600" cy="658368"/>
          </a:xfrm>
          <a:prstGeom prst="rect">
            <a:avLst/>
          </a:prstGeom>
          <a:noFill/>
          <a:ln/>
        </p:spPr>
        <p:txBody>
          <a:bodyPr wrap="square" rtlCol="0" anchor="t"/>
          <a:lstStyle/>
          <a:p>
            <a:pPr marL="0" indent="0">
              <a:buNone/>
            </a:pPr>
            <a:r>
              <a:rPr lang="en-US" sz="1400" dirty="0">
                <a:solidFill>
                  <a:srgbClr val="2C3E5A"/>
                </a:solidFill>
                <a:latin typeface="Calibri" pitchFamily="34" charset="0"/>
                <a:ea typeface="Calibri" pitchFamily="34" charset="-122"/>
                <a:cs typeface="Calibri" pitchFamily="34" charset="-120"/>
              </a:rPr>
              <a:t>There is a growing need for an intelligent and scalable system that can analyse multiple influencing factors and provide reliable land price predictions.</a:t>
            </a:r>
            <a:endParaRPr lang="en-US" sz="1400" dirty="0"/>
          </a:p>
        </p:txBody>
      </p:sp>
      <p:sp>
        <p:nvSpPr>
          <p:cNvPr id="13" name="Shape 11"/>
          <p:cNvSpPr/>
          <p:nvPr/>
        </p:nvSpPr>
        <p:spPr>
          <a:xfrm>
            <a:off x="365760" y="3803904"/>
            <a:ext cx="64008" cy="566928"/>
          </a:xfrm>
          <a:prstGeom prst="rect">
            <a:avLst/>
          </a:prstGeom>
          <a:solidFill>
            <a:srgbClr val="C9A84C"/>
          </a:solidFill>
          <a:ln w="12700">
            <a:solidFill>
              <a:srgbClr val="C9A84C"/>
            </a:solidFill>
            <a:prstDash val="solid"/>
          </a:ln>
        </p:spPr>
      </p:sp>
      <p:sp>
        <p:nvSpPr>
          <p:cNvPr id="14" name="Text 12"/>
          <p:cNvSpPr/>
          <p:nvPr/>
        </p:nvSpPr>
        <p:spPr>
          <a:xfrm>
            <a:off x="594360" y="3803904"/>
            <a:ext cx="8229600" cy="658368"/>
          </a:xfrm>
          <a:prstGeom prst="rect">
            <a:avLst/>
          </a:prstGeom>
          <a:noFill/>
          <a:ln/>
        </p:spPr>
        <p:txBody>
          <a:bodyPr wrap="square" rtlCol="0" anchor="t"/>
          <a:lstStyle/>
          <a:p>
            <a:pPr marL="0" indent="0">
              <a:buNone/>
            </a:pPr>
            <a:r>
              <a:rPr lang="en-US" sz="1400" dirty="0">
                <a:solidFill>
                  <a:srgbClr val="2C3E5A"/>
                </a:solidFill>
                <a:latin typeface="Calibri" pitchFamily="34" charset="0"/>
                <a:ea typeface="Calibri" pitchFamily="34" charset="-122"/>
                <a:cs typeface="Calibri" pitchFamily="34" charset="-120"/>
              </a:rPr>
              <a:t>This project develops a Machine Learning-based Automated Land Price Prediction System capable of estimating  future land price per square foot.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Abstract</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Text 5"/>
          <p:cNvSpPr/>
          <p:nvPr/>
        </p:nvSpPr>
        <p:spPr>
          <a:xfrm>
            <a:off x="457200" y="1143000"/>
            <a:ext cx="8229600" cy="3657600"/>
          </a:xfrm>
          <a:prstGeom prst="rect">
            <a:avLst/>
          </a:prstGeom>
          <a:noFill/>
          <a:ln/>
        </p:spPr>
        <p:txBody>
          <a:bodyPr wrap="square" rtlCol="0" anchor="t"/>
          <a:lstStyle/>
          <a:p>
            <a:pPr marL="0" indent="0" algn="just">
              <a:lnSpc>
                <a:spcPct val="130000"/>
              </a:lnSpc>
              <a:buNone/>
            </a:pPr>
            <a:r>
              <a:rPr lang="en-US" sz="1400" dirty="0">
                <a:solidFill>
                  <a:srgbClr val="2C3E5A"/>
                </a:solidFill>
                <a:latin typeface="Calibri" pitchFamily="34" charset="0"/>
                <a:ea typeface="Calibri" pitchFamily="34" charset="-122"/>
                <a:cs typeface="Calibri" pitchFamily="34" charset="-120"/>
              </a:rPr>
              <a:t>Land price prediction is a complex task influenced by factors such as location, infrastructure, and socio-economic conditions. Traditional valuation methods rely on manual assessment and subjective judgment, often leading to inconsistent results and increased investment risk.
This project presents an automated land price prediction system using machine learning techniques. The model predicts land price per square foot by leveraging features such as city tier, proximity to key facilities,  population growth, and infrastructure indicators.
Through effective data preprocessing, feature engineering, and model optimization, the system enables data-driven decision-making, helps identify undervalued properties, reduces risk, and supports smarter real estate investment strategies.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Introduction</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Text 5"/>
          <p:cNvSpPr/>
          <p:nvPr/>
        </p:nvSpPr>
        <p:spPr>
          <a:xfrm>
            <a:off x="457200" y="1115568"/>
            <a:ext cx="8229600" cy="3749040"/>
          </a:xfrm>
          <a:prstGeom prst="rect">
            <a:avLst/>
          </a:prstGeom>
          <a:noFill/>
          <a:ln/>
        </p:spPr>
        <p:txBody>
          <a:bodyPr wrap="square" rtlCol="0" anchor="t"/>
          <a:lstStyle/>
          <a:p>
            <a:pPr marL="0" indent="0">
              <a:lnSpc>
                <a:spcPct val="125000"/>
              </a:lnSpc>
              <a:buNone/>
            </a:pPr>
            <a:endParaRPr lang="en-US" sz="1300" b="1" dirty="0">
              <a:solidFill>
                <a:srgbClr val="C9A84C"/>
              </a:solidFill>
              <a:latin typeface="Calibri" pitchFamily="34" charset="0"/>
              <a:ea typeface="Calibri" pitchFamily="34" charset="-122"/>
              <a:cs typeface="Calibri" pitchFamily="34" charset="-120"/>
            </a:endParaRPr>
          </a:p>
          <a:p>
            <a:pPr marL="0" indent="0">
              <a:lnSpc>
                <a:spcPct val="125000"/>
              </a:lnSpc>
              <a:buNone/>
            </a:pPr>
            <a:endParaRPr lang="en-US" sz="1300" b="1" dirty="0">
              <a:solidFill>
                <a:srgbClr val="C9A84C"/>
              </a:solidFill>
              <a:latin typeface="Calibri" pitchFamily="34" charset="0"/>
              <a:ea typeface="Calibri" pitchFamily="34" charset="-122"/>
              <a:cs typeface="Calibri" pitchFamily="34" charset="-120"/>
            </a:endParaRPr>
          </a:p>
          <a:p>
            <a:pPr marL="0" indent="0" algn="just">
              <a:lnSpc>
                <a:spcPct val="125000"/>
              </a:lnSpc>
              <a:buNone/>
            </a:pPr>
            <a:r>
              <a:rPr lang="en-US" sz="1300" b="1" dirty="0">
                <a:solidFill>
                  <a:srgbClr val="C9A84C"/>
                </a:solidFill>
                <a:latin typeface="Calibri" pitchFamily="34" charset="0"/>
                <a:ea typeface="Calibri" pitchFamily="34" charset="-122"/>
                <a:cs typeface="Calibri" pitchFamily="34" charset="-120"/>
              </a:rPr>
              <a:t>1.  </a:t>
            </a:r>
            <a:r>
              <a:rPr lang="en-US" sz="1600" dirty="0">
                <a:solidFill>
                  <a:srgbClr val="2C3E5A"/>
                </a:solidFill>
                <a:latin typeface="Calibri" pitchFamily="34" charset="0"/>
                <a:ea typeface="Calibri" pitchFamily="34" charset="-122"/>
                <a:cs typeface="Calibri" pitchFamily="34" charset="-120"/>
              </a:rPr>
              <a:t>Land valuation plays a crucial role in real estate investment and urban development. Incorrect valuation can lead to financial losses, poor investment decisions, and inefficient resource allocation.
</a:t>
            </a:r>
            <a:r>
              <a:rPr lang="en-US" sz="1600" b="1" dirty="0">
                <a:solidFill>
                  <a:srgbClr val="C9A84C"/>
                </a:solidFill>
                <a:latin typeface="Calibri" pitchFamily="34" charset="0"/>
                <a:ea typeface="Calibri" pitchFamily="34" charset="-122"/>
                <a:cs typeface="Calibri" pitchFamily="34" charset="-120"/>
              </a:rPr>
              <a:t>2.  </a:t>
            </a:r>
            <a:r>
              <a:rPr lang="en-US" sz="1600" dirty="0">
                <a:solidFill>
                  <a:srgbClr val="2C3E5A"/>
                </a:solidFill>
                <a:latin typeface="Calibri" pitchFamily="34" charset="0"/>
                <a:ea typeface="Calibri" pitchFamily="34" charset="-122"/>
                <a:cs typeface="Calibri" pitchFamily="34" charset="-120"/>
              </a:rPr>
              <a:t>Traditional methods of land price assessment often rely on manual analysis, limited data, and subjective judgment, making them inconsistent and unreliable, especially in rapidly growing real estate markets.
</a:t>
            </a:r>
            <a:r>
              <a:rPr lang="en-US" sz="1600" b="1" dirty="0">
                <a:solidFill>
                  <a:srgbClr val="C9A84C"/>
                </a:solidFill>
                <a:latin typeface="Calibri" pitchFamily="34" charset="0"/>
                <a:ea typeface="Calibri" pitchFamily="34" charset="-122"/>
                <a:cs typeface="Calibri" pitchFamily="34" charset="-120"/>
              </a:rPr>
              <a:t>3.  </a:t>
            </a:r>
            <a:r>
              <a:rPr lang="en-US" sz="1600" dirty="0">
                <a:solidFill>
                  <a:srgbClr val="2C3E5A"/>
                </a:solidFill>
                <a:latin typeface="Calibri" pitchFamily="34" charset="0"/>
                <a:ea typeface="Calibri" pitchFamily="34" charset="-122"/>
                <a:cs typeface="Calibri" pitchFamily="34" charset="-120"/>
              </a:rPr>
              <a:t>With the advancement of Machine Learning and data-driven analytics, land price prediction has become more accurate, scalable, and efficient.
</a:t>
            </a:r>
            <a:r>
              <a:rPr lang="en-US" sz="1600" b="1" dirty="0">
                <a:solidFill>
                  <a:srgbClr val="C9A84C"/>
                </a:solidFill>
                <a:latin typeface="Calibri" pitchFamily="34" charset="0"/>
                <a:ea typeface="Calibri" pitchFamily="34" charset="-122"/>
                <a:cs typeface="Calibri" pitchFamily="34" charset="-120"/>
              </a:rPr>
              <a:t>4.  </a:t>
            </a:r>
            <a:r>
              <a:rPr lang="en-US" sz="1600" dirty="0">
                <a:solidFill>
                  <a:srgbClr val="2C3E5A"/>
                </a:solidFill>
                <a:latin typeface="Calibri" pitchFamily="34" charset="0"/>
                <a:ea typeface="Calibri" pitchFamily="34" charset="-122"/>
                <a:cs typeface="Calibri" pitchFamily="34" charset="-120"/>
              </a:rPr>
              <a:t>This project builds an Automated Land Price Prediction System leveraging regression-based ML models using location, infrastructure, environmental factors, and development indicators.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Objectives</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Shape 5"/>
          <p:cNvSpPr/>
          <p:nvPr/>
        </p:nvSpPr>
        <p:spPr>
          <a:xfrm>
            <a:off x="365760" y="1152144"/>
            <a:ext cx="292608" cy="292608"/>
          </a:xfrm>
          <a:prstGeom prst="rect">
            <a:avLst/>
          </a:prstGeom>
          <a:solidFill>
            <a:srgbClr val="1C2B4A"/>
          </a:solidFill>
          <a:ln w="12700">
            <a:solidFill>
              <a:srgbClr val="1C2B4A"/>
            </a:solidFill>
            <a:prstDash val="solid"/>
          </a:ln>
        </p:spPr>
      </p:sp>
      <p:sp>
        <p:nvSpPr>
          <p:cNvPr id="8" name="Text 6"/>
          <p:cNvSpPr/>
          <p:nvPr/>
        </p:nvSpPr>
        <p:spPr>
          <a:xfrm>
            <a:off x="365760" y="115214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1</a:t>
            </a:r>
            <a:endParaRPr lang="en-US" sz="1200" dirty="0"/>
          </a:p>
        </p:txBody>
      </p:sp>
      <p:sp>
        <p:nvSpPr>
          <p:cNvPr id="9" name="Text 7"/>
          <p:cNvSpPr/>
          <p:nvPr/>
        </p:nvSpPr>
        <p:spPr>
          <a:xfrm>
            <a:off x="804672" y="969264"/>
            <a:ext cx="8046720" cy="658368"/>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Develop an automated system for predicting land price per square foot using machine learning techniques.</a:t>
            </a:r>
            <a:endParaRPr lang="en-US" sz="1400" dirty="0"/>
          </a:p>
        </p:txBody>
      </p:sp>
      <p:sp>
        <p:nvSpPr>
          <p:cNvPr id="10" name="Shape 8"/>
          <p:cNvSpPr/>
          <p:nvPr/>
        </p:nvSpPr>
        <p:spPr>
          <a:xfrm>
            <a:off x="365760" y="1847088"/>
            <a:ext cx="292608" cy="292608"/>
          </a:xfrm>
          <a:prstGeom prst="rect">
            <a:avLst/>
          </a:prstGeom>
          <a:solidFill>
            <a:srgbClr val="1C2B4A"/>
          </a:solidFill>
          <a:ln w="12700">
            <a:solidFill>
              <a:srgbClr val="1C2B4A"/>
            </a:solidFill>
            <a:prstDash val="solid"/>
          </a:ln>
        </p:spPr>
      </p:sp>
      <p:sp>
        <p:nvSpPr>
          <p:cNvPr id="11" name="Text 9"/>
          <p:cNvSpPr/>
          <p:nvPr/>
        </p:nvSpPr>
        <p:spPr>
          <a:xfrm>
            <a:off x="365760" y="18470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2</a:t>
            </a:r>
            <a:endParaRPr lang="en-US" sz="1200" dirty="0"/>
          </a:p>
        </p:txBody>
      </p:sp>
      <p:sp>
        <p:nvSpPr>
          <p:cNvPr id="12" name="Text 10"/>
          <p:cNvSpPr/>
          <p:nvPr/>
        </p:nvSpPr>
        <p:spPr>
          <a:xfrm>
            <a:off x="804672" y="1810512"/>
            <a:ext cx="8046720" cy="512064"/>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Analyse and utilize multiple factors such as location, infrastructure proximity, and environmental conditions for accurate prediction.</a:t>
            </a:r>
            <a:endParaRPr lang="en-US" sz="1400" dirty="0"/>
          </a:p>
        </p:txBody>
      </p:sp>
      <p:sp>
        <p:nvSpPr>
          <p:cNvPr id="13" name="Shape 11"/>
          <p:cNvSpPr/>
          <p:nvPr/>
        </p:nvSpPr>
        <p:spPr>
          <a:xfrm>
            <a:off x="365760" y="2542032"/>
            <a:ext cx="292608" cy="292608"/>
          </a:xfrm>
          <a:prstGeom prst="rect">
            <a:avLst/>
          </a:prstGeom>
          <a:solidFill>
            <a:srgbClr val="1C2B4A"/>
          </a:solidFill>
          <a:ln w="12700">
            <a:solidFill>
              <a:srgbClr val="1C2B4A"/>
            </a:solidFill>
            <a:prstDash val="solid"/>
          </a:ln>
        </p:spPr>
      </p:sp>
      <p:sp>
        <p:nvSpPr>
          <p:cNvPr id="14" name="Text 12"/>
          <p:cNvSpPr/>
          <p:nvPr/>
        </p:nvSpPr>
        <p:spPr>
          <a:xfrm>
            <a:off x="365760" y="25420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3</a:t>
            </a:r>
            <a:endParaRPr lang="en-US" sz="1200" dirty="0"/>
          </a:p>
        </p:txBody>
      </p:sp>
      <p:sp>
        <p:nvSpPr>
          <p:cNvPr id="15" name="Text 13"/>
          <p:cNvSpPr/>
          <p:nvPr/>
        </p:nvSpPr>
        <p:spPr>
          <a:xfrm>
            <a:off x="804672" y="2505456"/>
            <a:ext cx="8046720" cy="512064"/>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Apply feature engineering techniques for improved model performance and prediction accuracy.</a:t>
            </a:r>
            <a:endParaRPr lang="en-US" sz="1400" dirty="0"/>
          </a:p>
        </p:txBody>
      </p:sp>
      <p:sp>
        <p:nvSpPr>
          <p:cNvPr id="16" name="Shape 14"/>
          <p:cNvSpPr/>
          <p:nvPr/>
        </p:nvSpPr>
        <p:spPr>
          <a:xfrm>
            <a:off x="365760" y="3236976"/>
            <a:ext cx="292608" cy="292608"/>
          </a:xfrm>
          <a:prstGeom prst="rect">
            <a:avLst/>
          </a:prstGeom>
          <a:solidFill>
            <a:srgbClr val="1C2B4A"/>
          </a:solidFill>
          <a:ln w="12700">
            <a:solidFill>
              <a:srgbClr val="1C2B4A"/>
            </a:solidFill>
            <a:prstDash val="solid"/>
          </a:ln>
        </p:spPr>
      </p:sp>
      <p:sp>
        <p:nvSpPr>
          <p:cNvPr id="17" name="Text 15"/>
          <p:cNvSpPr/>
          <p:nvPr/>
        </p:nvSpPr>
        <p:spPr>
          <a:xfrm>
            <a:off x="365760" y="323697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4</a:t>
            </a:r>
            <a:endParaRPr lang="en-US" sz="1200" dirty="0"/>
          </a:p>
        </p:txBody>
      </p:sp>
      <p:sp>
        <p:nvSpPr>
          <p:cNvPr id="18" name="Text 16"/>
          <p:cNvSpPr/>
          <p:nvPr/>
        </p:nvSpPr>
        <p:spPr>
          <a:xfrm>
            <a:off x="804672" y="3200400"/>
            <a:ext cx="8046720" cy="512064"/>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Build and optimize regression models for reliable and efficient land price estimation.</a:t>
            </a:r>
            <a:endParaRPr lang="en-US" sz="1400" dirty="0"/>
          </a:p>
        </p:txBody>
      </p:sp>
      <p:sp>
        <p:nvSpPr>
          <p:cNvPr id="19" name="Shape 17"/>
          <p:cNvSpPr/>
          <p:nvPr/>
        </p:nvSpPr>
        <p:spPr>
          <a:xfrm>
            <a:off x="365760" y="3931920"/>
            <a:ext cx="292608" cy="292608"/>
          </a:xfrm>
          <a:prstGeom prst="rect">
            <a:avLst/>
          </a:prstGeom>
          <a:solidFill>
            <a:srgbClr val="1C2B4A"/>
          </a:solidFill>
          <a:ln w="12700">
            <a:solidFill>
              <a:srgbClr val="1C2B4A"/>
            </a:solidFill>
            <a:prstDash val="solid"/>
          </a:ln>
        </p:spPr>
      </p:sp>
      <p:sp>
        <p:nvSpPr>
          <p:cNvPr id="20" name="Text 18"/>
          <p:cNvSpPr/>
          <p:nvPr/>
        </p:nvSpPr>
        <p:spPr>
          <a:xfrm>
            <a:off x="365760" y="393192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5</a:t>
            </a:r>
            <a:endParaRPr lang="en-US" sz="1200" dirty="0"/>
          </a:p>
        </p:txBody>
      </p:sp>
      <p:sp>
        <p:nvSpPr>
          <p:cNvPr id="21" name="Text 19"/>
          <p:cNvSpPr/>
          <p:nvPr/>
        </p:nvSpPr>
        <p:spPr>
          <a:xfrm>
            <a:off x="804672" y="3895344"/>
            <a:ext cx="8046720" cy="512064"/>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Support data-driven decision-making for investors and stakeholders in real estate.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Dataset Description</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Shape 5"/>
          <p:cNvSpPr/>
          <p:nvPr/>
        </p:nvSpPr>
        <p:spPr>
          <a:xfrm>
            <a:off x="274320" y="1024128"/>
            <a:ext cx="4069080" cy="320040"/>
          </a:xfrm>
          <a:prstGeom prst="rect">
            <a:avLst/>
          </a:prstGeom>
          <a:solidFill>
            <a:srgbClr val="1C2B4A"/>
          </a:solidFill>
          <a:ln w="12700">
            <a:solidFill>
              <a:srgbClr val="1C2B4A"/>
            </a:solidFill>
            <a:prstDash val="solid"/>
          </a:ln>
        </p:spPr>
      </p:sp>
      <p:sp>
        <p:nvSpPr>
          <p:cNvPr id="8" name="Text 6"/>
          <p:cNvSpPr/>
          <p:nvPr/>
        </p:nvSpPr>
        <p:spPr>
          <a:xfrm>
            <a:off x="274320" y="1024128"/>
            <a:ext cx="4069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Numerical Features</a:t>
            </a:r>
            <a:endParaRPr lang="en-US" sz="1200" dirty="0"/>
          </a:p>
        </p:txBody>
      </p:sp>
      <p:sp>
        <p:nvSpPr>
          <p:cNvPr id="9" name="Text 7"/>
          <p:cNvSpPr/>
          <p:nvPr/>
        </p:nvSpPr>
        <p:spPr>
          <a:xfrm>
            <a:off x="274320" y="1371600"/>
            <a:ext cx="4069080" cy="2560320"/>
          </a:xfrm>
          <a:prstGeom prst="rect">
            <a:avLst/>
          </a:prstGeom>
          <a:noFill/>
          <a:ln/>
        </p:spPr>
        <p:txBody>
          <a:bodyPr wrap="square" rtlCol="0" anchor="ctr"/>
          <a:lstStyle/>
          <a:p>
            <a:pPr marL="342900" indent="-342900">
              <a:buSzPct val="100000"/>
              <a:buChar char="•"/>
            </a:pPr>
            <a:r>
              <a:rPr lang="en-US" sz="1400" dirty="0">
                <a:solidFill>
                  <a:srgbClr val="2C3E5A"/>
                </a:solidFill>
                <a:ea typeface="Calibri" pitchFamily="34" charset="-122"/>
                <a:cs typeface="Calibri" pitchFamily="34" charset="-120"/>
              </a:rPr>
              <a:t>Distance to City Center, Highway, Transport, Amenities</a:t>
            </a:r>
          </a:p>
          <a:p>
            <a:pPr marL="342900" indent="-342900">
              <a:buSzPct val="100000"/>
              <a:buFontTx/>
              <a:buChar char="•"/>
            </a:pPr>
            <a:r>
              <a:rPr lang="en-US" sz="1400" dirty="0">
                <a:solidFill>
                  <a:srgbClr val="2C3E5A"/>
                </a:solidFill>
                <a:ea typeface="Calibri" pitchFamily="34" charset="-122"/>
                <a:cs typeface="Calibri" pitchFamily="34" charset="-120"/>
              </a:rPr>
              <a:t>City Tier: Tier 1 / 2 / 3 classification</a:t>
            </a:r>
            <a:endParaRPr lang="en-US" sz="1400" dirty="0"/>
          </a:p>
          <a:p>
            <a:pPr marL="342900" indent="-342900">
              <a:buSzPct val="100000"/>
              <a:buFontTx/>
              <a:buChar char="•"/>
            </a:pPr>
            <a:r>
              <a:rPr lang="en-US" sz="1400" dirty="0">
                <a:solidFill>
                  <a:srgbClr val="2C3E5A"/>
                </a:solidFill>
                <a:ea typeface="Calibri" pitchFamily="34" charset="-122"/>
                <a:cs typeface="Calibri" pitchFamily="34" charset="-120"/>
              </a:rPr>
              <a:t>Historical Growth %: Past land value growth rate</a:t>
            </a:r>
            <a:endParaRPr lang="en-US" sz="1400" dirty="0"/>
          </a:p>
          <a:p>
            <a:pPr marL="342900" indent="-342900">
              <a:buSzPct val="100000"/>
              <a:buChar char="•"/>
            </a:pPr>
            <a:r>
              <a:rPr lang="en-US" sz="1400" dirty="0">
                <a:solidFill>
                  <a:srgbClr val="2C3E5A"/>
                </a:solidFill>
                <a:ea typeface="Calibri" pitchFamily="34" charset="-122"/>
                <a:cs typeface="Calibri" pitchFamily="34" charset="-120"/>
              </a:rPr>
              <a:t>Population Growth %: Rate of population increase</a:t>
            </a:r>
            <a:endParaRPr lang="en-US" sz="1400" dirty="0"/>
          </a:p>
          <a:p>
            <a:pPr marL="342900" indent="-342900">
              <a:buSzPct val="100000"/>
              <a:buChar char="•"/>
            </a:pPr>
            <a:r>
              <a:rPr lang="en-US" sz="1400" dirty="0">
                <a:solidFill>
                  <a:srgbClr val="2C3E5A"/>
                </a:solidFill>
                <a:ea typeface="Calibri" pitchFamily="34" charset="-122"/>
                <a:cs typeface="Calibri" pitchFamily="34" charset="-120"/>
              </a:rPr>
              <a:t>Road Quality Score &amp; Utility Access</a:t>
            </a:r>
            <a:endParaRPr lang="en-US" sz="1400" dirty="0"/>
          </a:p>
          <a:p>
            <a:pPr marL="342900" indent="-342900">
              <a:buSzPct val="100000"/>
              <a:buChar char="•"/>
            </a:pPr>
            <a:r>
              <a:rPr lang="en-US" sz="1400" dirty="0">
                <a:solidFill>
                  <a:srgbClr val="2C3E5A"/>
                </a:solidFill>
                <a:ea typeface="Calibri" pitchFamily="34" charset="-122"/>
                <a:cs typeface="Calibri" pitchFamily="34" charset="-120"/>
              </a:rPr>
              <a:t>Government Development Plans, Flood Risk Score</a:t>
            </a:r>
          </a:p>
          <a:p>
            <a:pPr marL="342900" indent="-342900">
              <a:buSzPct val="100000"/>
              <a:buChar char="•"/>
            </a:pPr>
            <a:r>
              <a:rPr lang="en-US" sz="1400" dirty="0">
                <a:solidFill>
                  <a:srgbClr val="2C3E5A"/>
                </a:solidFill>
                <a:ea typeface="Calibri" pitchFamily="34" charset="-122"/>
                <a:cs typeface="Calibri" pitchFamily="34" charset="-120"/>
              </a:rPr>
              <a:t>Current land price per sq ft</a:t>
            </a:r>
          </a:p>
        </p:txBody>
      </p:sp>
      <p:sp>
        <p:nvSpPr>
          <p:cNvPr id="10" name="Shape 8"/>
          <p:cNvSpPr/>
          <p:nvPr/>
        </p:nvSpPr>
        <p:spPr>
          <a:xfrm>
            <a:off x="4800600" y="1024128"/>
            <a:ext cx="4069080" cy="320040"/>
          </a:xfrm>
          <a:prstGeom prst="rect">
            <a:avLst/>
          </a:prstGeom>
          <a:solidFill>
            <a:srgbClr val="1C2B4A"/>
          </a:solidFill>
          <a:ln w="12700">
            <a:solidFill>
              <a:srgbClr val="1C2B4A"/>
            </a:solidFill>
            <a:prstDash val="solid"/>
          </a:ln>
        </p:spPr>
      </p:sp>
      <p:sp>
        <p:nvSpPr>
          <p:cNvPr id="11" name="Text 9"/>
          <p:cNvSpPr/>
          <p:nvPr/>
        </p:nvSpPr>
        <p:spPr>
          <a:xfrm>
            <a:off x="4800600" y="1024128"/>
            <a:ext cx="4069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Categorical Features</a:t>
            </a:r>
            <a:endParaRPr lang="en-US" sz="1200" dirty="0"/>
          </a:p>
        </p:txBody>
      </p:sp>
      <p:sp>
        <p:nvSpPr>
          <p:cNvPr id="12" name="Text 10"/>
          <p:cNvSpPr/>
          <p:nvPr/>
        </p:nvSpPr>
        <p:spPr>
          <a:xfrm>
            <a:off x="4800600" y="1371600"/>
            <a:ext cx="4069080" cy="2560320"/>
          </a:xfrm>
          <a:prstGeom prst="rect">
            <a:avLst/>
          </a:prstGeom>
          <a:noFill/>
          <a:ln/>
        </p:spPr>
        <p:txBody>
          <a:bodyPr wrap="square" rtlCol="0" anchor="ctr"/>
          <a:lstStyle/>
          <a:p>
            <a:pPr marL="342900" indent="-342900">
              <a:buSzPct val="100000"/>
              <a:buChar char="•"/>
            </a:pPr>
            <a:r>
              <a:rPr lang="en-US" sz="1400" dirty="0">
                <a:solidFill>
                  <a:srgbClr val="2C3E5A"/>
                </a:solidFill>
                <a:ea typeface="Calibri" pitchFamily="34" charset="-122"/>
                <a:cs typeface="Calibri" pitchFamily="34" charset="-120"/>
              </a:rPr>
              <a:t>City: Name of the city</a:t>
            </a:r>
            <a:endParaRPr lang="en-US" sz="1400" dirty="0"/>
          </a:p>
          <a:p>
            <a:pPr marL="342900" indent="-342900">
              <a:buSzPct val="100000"/>
              <a:buChar char="•"/>
            </a:pPr>
            <a:r>
              <a:rPr lang="en-US" sz="1400" dirty="0">
                <a:solidFill>
                  <a:srgbClr val="2C3E5A"/>
                </a:solidFill>
                <a:ea typeface="Calibri" pitchFamily="34" charset="-122"/>
                <a:cs typeface="Calibri" pitchFamily="34" charset="-120"/>
              </a:rPr>
              <a:t>State: State/region of the land</a:t>
            </a:r>
            <a:endParaRPr lang="en-US" sz="1400" dirty="0"/>
          </a:p>
          <a:p>
            <a:pPr marL="342900" indent="-342900">
              <a:buSzPct val="100000"/>
              <a:buChar char="•"/>
            </a:pPr>
            <a:r>
              <a:rPr lang="en-US" sz="1400" dirty="0">
                <a:solidFill>
                  <a:srgbClr val="2C3E5A"/>
                </a:solidFill>
                <a:ea typeface="Calibri" pitchFamily="34" charset="-122"/>
                <a:cs typeface="Calibri" pitchFamily="34" charset="-120"/>
              </a:rPr>
              <a:t>Zoning Type: Residential / Commercial / Agricultural</a:t>
            </a:r>
          </a:p>
          <a:p>
            <a:pPr marL="342900" indent="-342900">
              <a:buSzPct val="100000"/>
              <a:buChar char="•"/>
            </a:pPr>
            <a:r>
              <a:rPr lang="en-US" sz="1400" dirty="0">
                <a:solidFill>
                  <a:srgbClr val="2C3E5A"/>
                </a:solidFill>
                <a:ea typeface="Calibri" pitchFamily="34" charset="-122"/>
                <a:cs typeface="Calibri" pitchFamily="34" charset="-120"/>
              </a:rPr>
              <a:t>Locality</a:t>
            </a:r>
          </a:p>
          <a:p>
            <a:pPr>
              <a:buSzPct val="100000"/>
            </a:pPr>
            <a:r>
              <a:rPr lang="en-US" sz="1400" dirty="0">
                <a:solidFill>
                  <a:srgbClr val="2C3E5A"/>
                </a:solidFill>
                <a:ea typeface="Calibri" pitchFamily="34" charset="-122"/>
                <a:cs typeface="Calibri" pitchFamily="34" charset="-120"/>
              </a:rPr>
              <a:t> </a:t>
            </a:r>
            <a:endParaRPr lang="en-US" sz="1400" dirty="0"/>
          </a:p>
        </p:txBody>
      </p:sp>
      <p:sp>
        <p:nvSpPr>
          <p:cNvPr id="13" name="Shape 11"/>
          <p:cNvSpPr/>
          <p:nvPr/>
        </p:nvSpPr>
        <p:spPr>
          <a:xfrm>
            <a:off x="274320" y="4160520"/>
            <a:ext cx="8595360" cy="594360"/>
          </a:xfrm>
          <a:prstGeom prst="rect">
            <a:avLst/>
          </a:prstGeom>
          <a:solidFill>
            <a:srgbClr val="C9A84C"/>
          </a:solidFill>
          <a:ln w="12700">
            <a:solidFill>
              <a:srgbClr val="C9A84C"/>
            </a:solidFill>
            <a:prstDash val="solid"/>
          </a:ln>
        </p:spPr>
      </p:sp>
      <p:sp>
        <p:nvSpPr>
          <p:cNvPr id="14" name="Text 12"/>
          <p:cNvSpPr/>
          <p:nvPr/>
        </p:nvSpPr>
        <p:spPr>
          <a:xfrm>
            <a:off x="274320" y="4160520"/>
            <a:ext cx="8595360" cy="594360"/>
          </a:xfrm>
          <a:prstGeom prst="rect">
            <a:avLst/>
          </a:prstGeom>
          <a:noFill/>
          <a:ln/>
        </p:spPr>
        <p:txBody>
          <a:bodyPr wrap="square" lIns="0" tIns="0" rIns="0" bIns="0" rtlCol="0" anchor="ctr"/>
          <a:lstStyle/>
          <a:p>
            <a:pPr marL="0" indent="0" algn="ctr">
              <a:buNone/>
            </a:pPr>
            <a:r>
              <a:rPr lang="en-US" sz="1200" b="1" dirty="0">
                <a:solidFill>
                  <a:srgbClr val="1C2B4A"/>
                </a:solidFill>
                <a:latin typeface="Georgia" pitchFamily="34" charset="0"/>
                <a:ea typeface="Georgia" pitchFamily="34" charset="-122"/>
                <a:cs typeface="Georgia" pitchFamily="34" charset="-120"/>
              </a:rPr>
              <a:t>Target Variable:  Future Land Price per sq. ft. (INR)   |   Format: Tabular CSV   |   Split: Training &amp; Testing Sets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System Architecture</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9" name="Shape 7"/>
          <p:cNvSpPr/>
          <p:nvPr/>
        </p:nvSpPr>
        <p:spPr>
          <a:xfrm>
            <a:off x="1508760" y="1152144"/>
            <a:ext cx="329184" cy="329184"/>
          </a:xfrm>
          <a:prstGeom prst="ellipse">
            <a:avLst/>
          </a:prstGeom>
          <a:solidFill>
            <a:srgbClr val="1C2B4A"/>
          </a:solidFill>
          <a:ln w="12700">
            <a:solidFill>
              <a:srgbClr val="1C2B4A"/>
            </a:solidFill>
            <a:prstDash val="solid"/>
          </a:ln>
        </p:spPr>
      </p:sp>
      <p:sp>
        <p:nvSpPr>
          <p:cNvPr id="10" name="Text 8"/>
          <p:cNvSpPr/>
          <p:nvPr/>
        </p:nvSpPr>
        <p:spPr>
          <a:xfrm>
            <a:off x="1508760" y="11521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1</a:t>
            </a:r>
            <a:endParaRPr lang="en-US" sz="1100" dirty="0"/>
          </a:p>
        </p:txBody>
      </p:sp>
      <p:sp>
        <p:nvSpPr>
          <p:cNvPr id="11" name="Text 9"/>
          <p:cNvSpPr/>
          <p:nvPr/>
        </p:nvSpPr>
        <p:spPr>
          <a:xfrm>
            <a:off x="2084832" y="1078992"/>
            <a:ext cx="1920240" cy="457200"/>
          </a:xfrm>
          <a:prstGeom prst="rect">
            <a:avLst/>
          </a:prstGeom>
          <a:noFill/>
          <a:ln/>
        </p:spPr>
        <p:txBody>
          <a:bodyPr wrap="square" rtlCol="0" anchor="ctr"/>
          <a:lstStyle/>
          <a:p>
            <a:pPr marL="0" indent="0">
              <a:buNone/>
            </a:pPr>
            <a:endParaRPr lang="en-US" sz="1100" dirty="0"/>
          </a:p>
        </p:txBody>
      </p:sp>
      <p:sp>
        <p:nvSpPr>
          <p:cNvPr id="12" name="Text 10"/>
          <p:cNvSpPr/>
          <p:nvPr/>
        </p:nvSpPr>
        <p:spPr>
          <a:xfrm>
            <a:off x="4023360" y="1078992"/>
            <a:ext cx="2971800" cy="457200"/>
          </a:xfrm>
          <a:prstGeom prst="rect">
            <a:avLst/>
          </a:prstGeom>
          <a:noFill/>
          <a:ln/>
        </p:spPr>
        <p:txBody>
          <a:bodyPr wrap="square" rtlCol="0" anchor="ctr"/>
          <a:lstStyle/>
          <a:p>
            <a:pPr marL="0" indent="0">
              <a:buNone/>
            </a:pPr>
            <a:r>
              <a:rPr lang="en-US" sz="950" dirty="0">
                <a:solidFill>
                  <a:srgbClr val="2C3E5A"/>
                </a:solidFill>
                <a:latin typeface="Calibri" pitchFamily="34" charset="0"/>
                <a:ea typeface="Calibri" pitchFamily="34" charset="-122"/>
                <a:cs typeface="Calibri" pitchFamily="34" charset="-120"/>
              </a:rPr>
              <a:t> </a:t>
            </a:r>
            <a:endParaRPr lang="en-US" sz="950" dirty="0"/>
          </a:p>
        </p:txBody>
      </p:sp>
      <p:sp>
        <p:nvSpPr>
          <p:cNvPr id="13" name="Shape 11"/>
          <p:cNvSpPr/>
          <p:nvPr/>
        </p:nvSpPr>
        <p:spPr>
          <a:xfrm>
            <a:off x="4572000" y="1536192"/>
            <a:ext cx="0" cy="109728"/>
          </a:xfrm>
          <a:prstGeom prst="line">
            <a:avLst/>
          </a:prstGeom>
          <a:noFill/>
          <a:ln w="25400">
            <a:solidFill>
              <a:srgbClr val="C9A84C"/>
            </a:solidFill>
            <a:prstDash val="solid"/>
          </a:ln>
        </p:spPr>
      </p:sp>
      <p:sp>
        <p:nvSpPr>
          <p:cNvPr id="14" name="Shape 12"/>
          <p:cNvSpPr/>
          <p:nvPr/>
        </p:nvSpPr>
        <p:spPr>
          <a:xfrm>
            <a:off x="4489704" y="1609344"/>
            <a:ext cx="164592" cy="54864"/>
          </a:xfrm>
          <a:prstGeom prst="rect">
            <a:avLst/>
          </a:prstGeom>
          <a:solidFill>
            <a:srgbClr val="C9A84C"/>
          </a:solidFill>
          <a:ln w="12700">
            <a:solidFill>
              <a:srgbClr val="C9A84C"/>
            </a:solidFill>
            <a:prstDash val="solid"/>
          </a:ln>
        </p:spPr>
      </p:sp>
      <p:sp>
        <p:nvSpPr>
          <p:cNvPr id="15" name="Shape 13"/>
          <p:cNvSpPr/>
          <p:nvPr/>
        </p:nvSpPr>
        <p:spPr>
          <a:xfrm>
            <a:off x="2084832" y="1078992"/>
            <a:ext cx="5120640" cy="429768"/>
          </a:xfrm>
          <a:prstGeom prst="rect">
            <a:avLst/>
          </a:prstGeom>
          <a:solidFill>
            <a:srgbClr val="FFFFFF"/>
          </a:solidFill>
          <a:ln w="12700">
            <a:solidFill>
              <a:srgbClr val="2E4272"/>
            </a:solidFill>
            <a:prstDash val="solid"/>
          </a:ln>
        </p:spPr>
        <p:txBody>
          <a:bodyPr/>
          <a:lstStyle/>
          <a:p>
            <a:r>
              <a:rPr lang="en-US" sz="1100" b="1" dirty="0">
                <a:solidFill>
                  <a:srgbClr val="2E4272"/>
                </a:solidFill>
                <a:latin typeface="Georgia" pitchFamily="34" charset="0"/>
                <a:ea typeface="Georgia" pitchFamily="34" charset="-122"/>
                <a:cs typeface="Georgia" pitchFamily="34" charset="-120"/>
              </a:rPr>
              <a:t>Input Layer                               </a:t>
            </a:r>
            <a:r>
              <a:rPr lang="en-US" sz="1050" dirty="0">
                <a:solidFill>
                  <a:srgbClr val="2C3E5A"/>
                </a:solidFill>
                <a:latin typeface="Calibri" pitchFamily="34" charset="0"/>
                <a:ea typeface="Calibri" pitchFamily="34" charset="-122"/>
                <a:cs typeface="Calibri" pitchFamily="34" charset="-120"/>
              </a:rPr>
              <a:t>Location, distance, growth, zoning, flood risk</a:t>
            </a:r>
            <a:endParaRPr lang="en-US" sz="1050" dirty="0"/>
          </a:p>
          <a:p>
            <a:endParaRPr lang="en-US" dirty="0"/>
          </a:p>
        </p:txBody>
      </p:sp>
      <p:sp>
        <p:nvSpPr>
          <p:cNvPr id="16" name="Shape 14"/>
          <p:cNvSpPr/>
          <p:nvPr/>
        </p:nvSpPr>
        <p:spPr>
          <a:xfrm>
            <a:off x="2011680" y="1645920"/>
            <a:ext cx="73152" cy="457200"/>
          </a:xfrm>
          <a:prstGeom prst="rect">
            <a:avLst/>
          </a:prstGeom>
          <a:solidFill>
            <a:srgbClr val="C9A84C"/>
          </a:solidFill>
          <a:ln w="12700">
            <a:solidFill>
              <a:srgbClr val="C9A84C"/>
            </a:solidFill>
            <a:prstDash val="solid"/>
          </a:ln>
        </p:spPr>
      </p:sp>
      <p:sp>
        <p:nvSpPr>
          <p:cNvPr id="17" name="Shape 15"/>
          <p:cNvSpPr/>
          <p:nvPr/>
        </p:nvSpPr>
        <p:spPr>
          <a:xfrm>
            <a:off x="1508760" y="1746504"/>
            <a:ext cx="329184" cy="402336"/>
          </a:xfrm>
          <a:prstGeom prst="ellipse">
            <a:avLst/>
          </a:prstGeom>
          <a:solidFill>
            <a:srgbClr val="2E4272"/>
          </a:solidFill>
          <a:ln w="12700">
            <a:solidFill>
              <a:srgbClr val="2E4272"/>
            </a:solidFill>
            <a:prstDash val="solid"/>
          </a:ln>
        </p:spPr>
        <p:txBody>
          <a:bodyPr/>
          <a:lstStyle/>
          <a:p>
            <a:r>
              <a:rPr lang="en-IN" dirty="0"/>
              <a:t>2</a:t>
            </a:r>
          </a:p>
        </p:txBody>
      </p:sp>
      <p:sp>
        <p:nvSpPr>
          <p:cNvPr id="18" name="Text 16"/>
          <p:cNvSpPr/>
          <p:nvPr/>
        </p:nvSpPr>
        <p:spPr>
          <a:xfrm>
            <a:off x="1508760" y="1719072"/>
            <a:ext cx="329184" cy="329184"/>
          </a:xfrm>
          <a:prstGeom prst="rect">
            <a:avLst/>
          </a:prstGeom>
          <a:noFill/>
          <a:ln/>
        </p:spPr>
        <p:txBody>
          <a:bodyPr wrap="square" lIns="0" tIns="0" rIns="0" bIns="0" rtlCol="0" anchor="ctr"/>
          <a:lstStyle/>
          <a:p>
            <a:pPr marL="0" indent="0" algn="ctr">
              <a:buNone/>
            </a:pPr>
            <a:endParaRPr lang="en-US" sz="1100" dirty="0"/>
          </a:p>
        </p:txBody>
      </p:sp>
      <p:sp>
        <p:nvSpPr>
          <p:cNvPr id="19" name="Text 17"/>
          <p:cNvSpPr/>
          <p:nvPr/>
        </p:nvSpPr>
        <p:spPr>
          <a:xfrm>
            <a:off x="2176272" y="1645920"/>
            <a:ext cx="1828800" cy="457200"/>
          </a:xfrm>
          <a:prstGeom prst="rect">
            <a:avLst/>
          </a:prstGeom>
          <a:noFill/>
          <a:ln/>
        </p:spPr>
        <p:txBody>
          <a:bodyPr wrap="square" rtlCol="0" anchor="ctr"/>
          <a:lstStyle/>
          <a:p>
            <a:pPr marL="0" indent="0">
              <a:buNone/>
            </a:pPr>
            <a:endParaRPr lang="en-US" sz="1100" dirty="0"/>
          </a:p>
        </p:txBody>
      </p:sp>
      <p:sp>
        <p:nvSpPr>
          <p:cNvPr id="20" name="Text 18"/>
          <p:cNvSpPr/>
          <p:nvPr/>
        </p:nvSpPr>
        <p:spPr>
          <a:xfrm>
            <a:off x="4023360" y="1645920"/>
            <a:ext cx="2971800" cy="457200"/>
          </a:xfrm>
          <a:prstGeom prst="rect">
            <a:avLst/>
          </a:prstGeom>
          <a:noFill/>
          <a:ln/>
        </p:spPr>
        <p:txBody>
          <a:bodyPr wrap="square" rtlCol="0" anchor="ctr"/>
          <a:lstStyle/>
          <a:p>
            <a:pPr marL="0" indent="0">
              <a:buNone/>
            </a:pPr>
            <a:endParaRPr lang="en-US" sz="950" dirty="0"/>
          </a:p>
        </p:txBody>
      </p:sp>
      <p:sp>
        <p:nvSpPr>
          <p:cNvPr id="21" name="Shape 19"/>
          <p:cNvSpPr/>
          <p:nvPr/>
        </p:nvSpPr>
        <p:spPr>
          <a:xfrm>
            <a:off x="4572000" y="2103120"/>
            <a:ext cx="0" cy="109728"/>
          </a:xfrm>
          <a:prstGeom prst="line">
            <a:avLst/>
          </a:prstGeom>
          <a:noFill/>
          <a:ln w="25400">
            <a:solidFill>
              <a:srgbClr val="C9A84C"/>
            </a:solidFill>
            <a:prstDash val="solid"/>
          </a:ln>
        </p:spPr>
      </p:sp>
      <p:sp>
        <p:nvSpPr>
          <p:cNvPr id="22" name="Shape 20"/>
          <p:cNvSpPr/>
          <p:nvPr/>
        </p:nvSpPr>
        <p:spPr>
          <a:xfrm>
            <a:off x="4489704" y="2176272"/>
            <a:ext cx="164592" cy="54864"/>
          </a:xfrm>
          <a:prstGeom prst="rect">
            <a:avLst/>
          </a:prstGeom>
          <a:solidFill>
            <a:srgbClr val="C9A84C"/>
          </a:solidFill>
          <a:ln w="12700">
            <a:solidFill>
              <a:srgbClr val="C9A84C"/>
            </a:solidFill>
            <a:prstDash val="solid"/>
          </a:ln>
        </p:spPr>
      </p:sp>
      <p:sp>
        <p:nvSpPr>
          <p:cNvPr id="23" name="Shape 21"/>
          <p:cNvSpPr/>
          <p:nvPr/>
        </p:nvSpPr>
        <p:spPr>
          <a:xfrm>
            <a:off x="2091161" y="1641348"/>
            <a:ext cx="5120640" cy="457200"/>
          </a:xfrm>
          <a:prstGeom prst="rect">
            <a:avLst/>
          </a:prstGeom>
          <a:solidFill>
            <a:srgbClr val="FFFFFF"/>
          </a:solidFill>
          <a:ln w="12700">
            <a:solidFill>
              <a:srgbClr val="2E4272"/>
            </a:solidFill>
            <a:prstDash val="solid"/>
          </a:ln>
        </p:spPr>
        <p:txBody>
          <a:bodyPr/>
          <a:lstStyle/>
          <a:p>
            <a:r>
              <a:rPr lang="en-US" sz="1100" b="1" dirty="0">
                <a:solidFill>
                  <a:srgbClr val="2E4272"/>
                </a:solidFill>
                <a:latin typeface="Georgia" pitchFamily="34" charset="0"/>
                <a:ea typeface="Georgia" pitchFamily="34" charset="-122"/>
                <a:cs typeface="Georgia" pitchFamily="34" charset="-120"/>
              </a:rPr>
              <a:t>Data Preprocessing</a:t>
            </a:r>
            <a:r>
              <a:rPr lang="en-IN" sz="1100" b="1" dirty="0">
                <a:solidFill>
                  <a:srgbClr val="2E4272"/>
                </a:solidFill>
                <a:latin typeface="Georgia" pitchFamily="34" charset="0"/>
                <a:ea typeface="Georgia" pitchFamily="34" charset="-122"/>
                <a:cs typeface="Georgia" pitchFamily="34" charset="-120"/>
              </a:rPr>
              <a:t>            </a:t>
            </a:r>
            <a:r>
              <a:rPr lang="en-US" sz="1100" dirty="0">
                <a:solidFill>
                  <a:srgbClr val="2C3E5A"/>
                </a:solidFill>
                <a:latin typeface="Calibri" pitchFamily="34" charset="0"/>
                <a:ea typeface="Calibri" pitchFamily="34" charset="-122"/>
                <a:cs typeface="Calibri" pitchFamily="34" charset="-120"/>
              </a:rPr>
              <a:t>Missing values  |  Ordinal Encoding  | Scaling</a:t>
            </a:r>
            <a:endParaRPr lang="en-US" sz="1100" dirty="0"/>
          </a:p>
          <a:p>
            <a:r>
              <a:rPr lang="en-US" sz="1100" dirty="0">
                <a:solidFill>
                  <a:srgbClr val="2C3E5A"/>
                </a:solidFill>
                <a:latin typeface="Calibri" pitchFamily="34" charset="0"/>
                <a:ea typeface="Calibri" pitchFamily="34" charset="-122"/>
                <a:cs typeface="Calibri" pitchFamily="34" charset="-120"/>
              </a:rPr>
              <a:t>                                               </a:t>
            </a:r>
            <a:endParaRPr lang="en-US" sz="1100" dirty="0"/>
          </a:p>
          <a:p>
            <a:endParaRPr lang="en-US" sz="1100" dirty="0"/>
          </a:p>
        </p:txBody>
      </p:sp>
      <p:sp>
        <p:nvSpPr>
          <p:cNvPr id="24" name="Shape 22"/>
          <p:cNvSpPr/>
          <p:nvPr/>
        </p:nvSpPr>
        <p:spPr>
          <a:xfrm>
            <a:off x="2011680" y="2212848"/>
            <a:ext cx="73152" cy="457200"/>
          </a:xfrm>
          <a:prstGeom prst="rect">
            <a:avLst/>
          </a:prstGeom>
          <a:solidFill>
            <a:srgbClr val="C9A84C"/>
          </a:solidFill>
          <a:ln w="12700">
            <a:solidFill>
              <a:srgbClr val="C9A84C"/>
            </a:solidFill>
            <a:prstDash val="solid"/>
          </a:ln>
        </p:spPr>
      </p:sp>
      <p:sp>
        <p:nvSpPr>
          <p:cNvPr id="25" name="Shape 23"/>
          <p:cNvSpPr/>
          <p:nvPr/>
        </p:nvSpPr>
        <p:spPr>
          <a:xfrm>
            <a:off x="1508760" y="2286000"/>
            <a:ext cx="329184" cy="329184"/>
          </a:xfrm>
          <a:prstGeom prst="ellipse">
            <a:avLst/>
          </a:prstGeom>
          <a:solidFill>
            <a:srgbClr val="2E4272"/>
          </a:solidFill>
          <a:ln w="12700">
            <a:solidFill>
              <a:srgbClr val="2E4272"/>
            </a:solidFill>
            <a:prstDash val="solid"/>
          </a:ln>
        </p:spPr>
        <p:txBody>
          <a:bodyPr/>
          <a:lstStyle/>
          <a:p>
            <a:endParaRPr lang="en-IN"/>
          </a:p>
        </p:txBody>
      </p:sp>
      <p:sp>
        <p:nvSpPr>
          <p:cNvPr id="26" name="Text 24"/>
          <p:cNvSpPr/>
          <p:nvPr/>
        </p:nvSpPr>
        <p:spPr>
          <a:xfrm>
            <a:off x="1508760" y="2286000"/>
            <a:ext cx="329184" cy="329184"/>
          </a:xfrm>
          <a:prstGeom prst="rect">
            <a:avLst/>
          </a:prstGeom>
          <a:noFill/>
          <a:ln/>
        </p:spPr>
        <p:txBody>
          <a:bodyPr wrap="square" lIns="0" tIns="0" rIns="0" bIns="0" rtlCol="0" anchor="ctr"/>
          <a:lstStyle/>
          <a:p>
            <a:pPr marL="0" indent="0" algn="ctr">
              <a:buNone/>
            </a:pPr>
            <a:r>
              <a:rPr lang="en-US" sz="1600" dirty="0"/>
              <a:t>3</a:t>
            </a:r>
          </a:p>
        </p:txBody>
      </p:sp>
      <p:sp>
        <p:nvSpPr>
          <p:cNvPr id="27" name="Text 25"/>
          <p:cNvSpPr/>
          <p:nvPr/>
        </p:nvSpPr>
        <p:spPr>
          <a:xfrm>
            <a:off x="2606040" y="2057400"/>
            <a:ext cx="1828800" cy="457200"/>
          </a:xfrm>
          <a:prstGeom prst="rect">
            <a:avLst/>
          </a:prstGeom>
          <a:noFill/>
          <a:ln/>
        </p:spPr>
        <p:txBody>
          <a:bodyPr wrap="square" rtlCol="0" anchor="ctr"/>
          <a:lstStyle/>
          <a:p>
            <a:pPr marL="0" indent="0">
              <a:buNone/>
            </a:pPr>
            <a:endParaRPr lang="en-US" sz="1100" dirty="0"/>
          </a:p>
        </p:txBody>
      </p:sp>
      <p:sp>
        <p:nvSpPr>
          <p:cNvPr id="28" name="Text 26"/>
          <p:cNvSpPr/>
          <p:nvPr/>
        </p:nvSpPr>
        <p:spPr>
          <a:xfrm>
            <a:off x="4023360" y="2212848"/>
            <a:ext cx="2971800" cy="457200"/>
          </a:xfrm>
          <a:prstGeom prst="rect">
            <a:avLst/>
          </a:prstGeom>
          <a:noFill/>
          <a:ln/>
        </p:spPr>
        <p:txBody>
          <a:bodyPr wrap="square" rtlCol="0" anchor="ctr"/>
          <a:lstStyle/>
          <a:p>
            <a:pPr marL="0" indent="0">
              <a:buNone/>
            </a:pPr>
            <a:endParaRPr lang="en-US" sz="950" dirty="0"/>
          </a:p>
        </p:txBody>
      </p:sp>
      <p:sp>
        <p:nvSpPr>
          <p:cNvPr id="29" name="Shape 27"/>
          <p:cNvSpPr/>
          <p:nvPr/>
        </p:nvSpPr>
        <p:spPr>
          <a:xfrm>
            <a:off x="4572000" y="2670048"/>
            <a:ext cx="0" cy="109728"/>
          </a:xfrm>
          <a:prstGeom prst="line">
            <a:avLst/>
          </a:prstGeom>
          <a:noFill/>
          <a:ln w="25400">
            <a:solidFill>
              <a:srgbClr val="C9A84C"/>
            </a:solidFill>
            <a:prstDash val="solid"/>
          </a:ln>
        </p:spPr>
      </p:sp>
      <p:sp>
        <p:nvSpPr>
          <p:cNvPr id="30" name="Shape 28"/>
          <p:cNvSpPr/>
          <p:nvPr/>
        </p:nvSpPr>
        <p:spPr>
          <a:xfrm>
            <a:off x="4489704" y="2743200"/>
            <a:ext cx="164592" cy="54864"/>
          </a:xfrm>
          <a:prstGeom prst="rect">
            <a:avLst/>
          </a:prstGeom>
          <a:solidFill>
            <a:srgbClr val="C9A84C"/>
          </a:solidFill>
          <a:ln w="12700">
            <a:solidFill>
              <a:srgbClr val="C9A84C"/>
            </a:solidFill>
            <a:prstDash val="solid"/>
          </a:ln>
        </p:spPr>
      </p:sp>
      <p:sp>
        <p:nvSpPr>
          <p:cNvPr id="31" name="Shape 29"/>
          <p:cNvSpPr/>
          <p:nvPr/>
        </p:nvSpPr>
        <p:spPr>
          <a:xfrm>
            <a:off x="2084832" y="2231136"/>
            <a:ext cx="5120640" cy="457200"/>
          </a:xfrm>
          <a:prstGeom prst="rect">
            <a:avLst/>
          </a:prstGeom>
          <a:solidFill>
            <a:srgbClr val="FFFFFF"/>
          </a:solidFill>
          <a:ln w="12700">
            <a:solidFill>
              <a:srgbClr val="2E4272"/>
            </a:solidFill>
            <a:prstDash val="solid"/>
          </a:ln>
        </p:spPr>
        <p:txBody>
          <a:bodyPr/>
          <a:lstStyle/>
          <a:p>
            <a:r>
              <a:rPr lang="en-US" sz="1100" b="1" dirty="0">
                <a:solidFill>
                  <a:srgbClr val="2E4272"/>
                </a:solidFill>
                <a:latin typeface="Georgia" pitchFamily="34" charset="0"/>
                <a:ea typeface="Georgia" pitchFamily="34" charset="-122"/>
                <a:cs typeface="Georgia" pitchFamily="34" charset="-120"/>
              </a:rPr>
              <a:t>Model Training        </a:t>
            </a:r>
            <a:r>
              <a:rPr lang="en-US" sz="1100" dirty="0">
                <a:solidFill>
                  <a:srgbClr val="2C3E5A"/>
                </a:solidFill>
                <a:latin typeface="Calibri" pitchFamily="34" charset="0"/>
                <a:ea typeface="Calibri" pitchFamily="34" charset="-122"/>
                <a:cs typeface="Calibri" pitchFamily="34" charset="-120"/>
              </a:rPr>
              <a:t>Linear Regression | Random Forest | </a:t>
            </a:r>
            <a:r>
              <a:rPr lang="en-US" sz="1100" dirty="0" err="1">
                <a:solidFill>
                  <a:srgbClr val="2C3E5A"/>
                </a:solidFill>
                <a:latin typeface="Calibri" pitchFamily="34" charset="0"/>
                <a:ea typeface="Calibri" pitchFamily="34" charset="-122"/>
                <a:cs typeface="Calibri" pitchFamily="34" charset="-120"/>
              </a:rPr>
              <a:t>XGBoost</a:t>
            </a:r>
            <a:r>
              <a:rPr lang="en-US" sz="1100" dirty="0">
                <a:solidFill>
                  <a:srgbClr val="2C3E5A"/>
                </a:solidFill>
                <a:latin typeface="Calibri" pitchFamily="34" charset="0"/>
                <a:ea typeface="Calibri" pitchFamily="34" charset="-122"/>
                <a:cs typeface="Calibri" pitchFamily="34" charset="-120"/>
              </a:rPr>
              <a:t> | Decision Tree</a:t>
            </a:r>
            <a:endParaRPr lang="en-US" sz="1100" dirty="0"/>
          </a:p>
          <a:p>
            <a:endParaRPr lang="en-US" sz="1100" dirty="0"/>
          </a:p>
        </p:txBody>
      </p:sp>
      <p:sp>
        <p:nvSpPr>
          <p:cNvPr id="32" name="Shape 30"/>
          <p:cNvSpPr/>
          <p:nvPr/>
        </p:nvSpPr>
        <p:spPr>
          <a:xfrm>
            <a:off x="2011680" y="2779776"/>
            <a:ext cx="73152" cy="457200"/>
          </a:xfrm>
          <a:prstGeom prst="rect">
            <a:avLst/>
          </a:prstGeom>
          <a:solidFill>
            <a:srgbClr val="C9A84C"/>
          </a:solidFill>
          <a:ln w="12700">
            <a:solidFill>
              <a:srgbClr val="C9A84C"/>
            </a:solidFill>
            <a:prstDash val="solid"/>
          </a:ln>
        </p:spPr>
      </p:sp>
      <p:sp>
        <p:nvSpPr>
          <p:cNvPr id="33" name="Shape 31"/>
          <p:cNvSpPr/>
          <p:nvPr/>
        </p:nvSpPr>
        <p:spPr>
          <a:xfrm>
            <a:off x="1494692" y="2880360"/>
            <a:ext cx="329184" cy="329184"/>
          </a:xfrm>
          <a:prstGeom prst="ellipse">
            <a:avLst/>
          </a:prstGeom>
          <a:solidFill>
            <a:srgbClr val="2E4272"/>
          </a:solidFill>
          <a:ln w="12700">
            <a:solidFill>
              <a:srgbClr val="2E4272"/>
            </a:solidFill>
            <a:prstDash val="solid"/>
          </a:ln>
        </p:spPr>
        <p:txBody>
          <a:bodyPr/>
          <a:lstStyle/>
          <a:p>
            <a:endParaRPr lang="en-IN" dirty="0"/>
          </a:p>
        </p:txBody>
      </p:sp>
      <p:sp>
        <p:nvSpPr>
          <p:cNvPr id="34" name="Text 32"/>
          <p:cNvSpPr/>
          <p:nvPr/>
        </p:nvSpPr>
        <p:spPr>
          <a:xfrm>
            <a:off x="1508760" y="2852928"/>
            <a:ext cx="329184" cy="329184"/>
          </a:xfrm>
          <a:prstGeom prst="rect">
            <a:avLst/>
          </a:prstGeom>
          <a:noFill/>
          <a:ln/>
        </p:spPr>
        <p:txBody>
          <a:bodyPr wrap="square" lIns="0" tIns="0" rIns="0" bIns="0" rtlCol="0" anchor="ctr"/>
          <a:lstStyle/>
          <a:p>
            <a:pPr marL="0" indent="0" algn="ctr">
              <a:buNone/>
            </a:pPr>
            <a:r>
              <a:rPr lang="en-US" sz="1400" dirty="0"/>
              <a:t>4</a:t>
            </a:r>
          </a:p>
        </p:txBody>
      </p:sp>
      <p:sp>
        <p:nvSpPr>
          <p:cNvPr id="35" name="Text 33"/>
          <p:cNvSpPr/>
          <p:nvPr/>
        </p:nvSpPr>
        <p:spPr>
          <a:xfrm>
            <a:off x="2176272" y="2779776"/>
            <a:ext cx="1828800" cy="457200"/>
          </a:xfrm>
          <a:prstGeom prst="rect">
            <a:avLst/>
          </a:prstGeom>
          <a:noFill/>
          <a:ln/>
        </p:spPr>
        <p:txBody>
          <a:bodyPr wrap="square" rtlCol="0" anchor="ctr"/>
          <a:lstStyle/>
          <a:p>
            <a:pPr marL="0" indent="0">
              <a:buNone/>
            </a:pPr>
            <a:endParaRPr lang="en-US" sz="1100" dirty="0"/>
          </a:p>
        </p:txBody>
      </p:sp>
      <p:sp>
        <p:nvSpPr>
          <p:cNvPr id="36" name="Text 34"/>
          <p:cNvSpPr/>
          <p:nvPr/>
        </p:nvSpPr>
        <p:spPr>
          <a:xfrm>
            <a:off x="4220308" y="2880360"/>
            <a:ext cx="2848004" cy="393192"/>
          </a:xfrm>
          <a:prstGeom prst="rect">
            <a:avLst/>
          </a:prstGeom>
          <a:noFill/>
          <a:ln/>
        </p:spPr>
        <p:txBody>
          <a:bodyPr wrap="square" rtlCol="0" anchor="ctr"/>
          <a:lstStyle/>
          <a:p>
            <a:pPr marL="0" indent="0">
              <a:buNone/>
            </a:pPr>
            <a:endParaRPr lang="en-US" sz="950" dirty="0"/>
          </a:p>
        </p:txBody>
      </p:sp>
      <p:sp>
        <p:nvSpPr>
          <p:cNvPr id="37" name="Shape 35"/>
          <p:cNvSpPr/>
          <p:nvPr/>
        </p:nvSpPr>
        <p:spPr>
          <a:xfrm>
            <a:off x="4572000" y="3236976"/>
            <a:ext cx="0" cy="109728"/>
          </a:xfrm>
          <a:prstGeom prst="line">
            <a:avLst/>
          </a:prstGeom>
          <a:noFill/>
          <a:ln w="25400">
            <a:solidFill>
              <a:srgbClr val="C9A84C"/>
            </a:solidFill>
            <a:prstDash val="solid"/>
          </a:ln>
        </p:spPr>
      </p:sp>
      <p:sp>
        <p:nvSpPr>
          <p:cNvPr id="38" name="Shape 36"/>
          <p:cNvSpPr/>
          <p:nvPr/>
        </p:nvSpPr>
        <p:spPr>
          <a:xfrm>
            <a:off x="4489704" y="3310128"/>
            <a:ext cx="164592" cy="54864"/>
          </a:xfrm>
          <a:prstGeom prst="rect">
            <a:avLst/>
          </a:prstGeom>
          <a:solidFill>
            <a:srgbClr val="C9A84C"/>
          </a:solidFill>
          <a:ln w="12700">
            <a:solidFill>
              <a:srgbClr val="C9A84C"/>
            </a:solidFill>
            <a:prstDash val="solid"/>
          </a:ln>
        </p:spPr>
      </p:sp>
      <p:sp>
        <p:nvSpPr>
          <p:cNvPr id="39" name="Shape 37"/>
          <p:cNvSpPr/>
          <p:nvPr/>
        </p:nvSpPr>
        <p:spPr>
          <a:xfrm>
            <a:off x="2084832" y="2788920"/>
            <a:ext cx="5120640" cy="457200"/>
          </a:xfrm>
          <a:prstGeom prst="rect">
            <a:avLst/>
          </a:prstGeom>
          <a:solidFill>
            <a:srgbClr val="FFFFFF"/>
          </a:solidFill>
          <a:ln w="12700">
            <a:solidFill>
              <a:srgbClr val="2E4272"/>
            </a:solidFill>
            <a:prstDash val="solid"/>
          </a:ln>
        </p:spPr>
        <p:txBody>
          <a:bodyPr/>
          <a:lstStyle/>
          <a:p>
            <a:r>
              <a:rPr lang="en-IN" dirty="0"/>
              <a:t>                                    </a:t>
            </a:r>
            <a:r>
              <a:rPr lang="en-US" sz="1000" dirty="0">
                <a:solidFill>
                  <a:srgbClr val="2C3E5A"/>
                </a:solidFill>
                <a:latin typeface="Calibri" pitchFamily="34" charset="0"/>
                <a:ea typeface="Calibri" pitchFamily="34" charset="-122"/>
                <a:cs typeface="Calibri" pitchFamily="34" charset="-120"/>
              </a:rPr>
              <a:t>R2 Score  |  MAE  |  RMSE</a:t>
            </a:r>
            <a:endParaRPr lang="en-US" sz="1000" dirty="0"/>
          </a:p>
          <a:p>
            <a:endParaRPr lang="en-IN" dirty="0"/>
          </a:p>
        </p:txBody>
      </p:sp>
      <p:sp>
        <p:nvSpPr>
          <p:cNvPr id="40" name="Shape 38"/>
          <p:cNvSpPr/>
          <p:nvPr/>
        </p:nvSpPr>
        <p:spPr>
          <a:xfrm>
            <a:off x="2011680" y="3346704"/>
            <a:ext cx="73152" cy="457200"/>
          </a:xfrm>
          <a:prstGeom prst="rect">
            <a:avLst/>
          </a:prstGeom>
          <a:solidFill>
            <a:srgbClr val="C9A84C"/>
          </a:solidFill>
          <a:ln w="12700">
            <a:solidFill>
              <a:srgbClr val="C9A84C"/>
            </a:solidFill>
            <a:prstDash val="solid"/>
          </a:ln>
        </p:spPr>
      </p:sp>
      <p:sp>
        <p:nvSpPr>
          <p:cNvPr id="41" name="Shape 39"/>
          <p:cNvSpPr/>
          <p:nvPr/>
        </p:nvSpPr>
        <p:spPr>
          <a:xfrm>
            <a:off x="1508760" y="3419856"/>
            <a:ext cx="329184" cy="329184"/>
          </a:xfrm>
          <a:prstGeom prst="ellipse">
            <a:avLst/>
          </a:prstGeom>
          <a:solidFill>
            <a:srgbClr val="2E4272"/>
          </a:solidFill>
          <a:ln w="12700">
            <a:solidFill>
              <a:srgbClr val="2E4272"/>
            </a:solidFill>
            <a:prstDash val="solid"/>
          </a:ln>
        </p:spPr>
      </p:sp>
      <p:sp>
        <p:nvSpPr>
          <p:cNvPr id="42" name="Text 40"/>
          <p:cNvSpPr/>
          <p:nvPr/>
        </p:nvSpPr>
        <p:spPr>
          <a:xfrm>
            <a:off x="1508760" y="341985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rPr>
              <a:t>5</a:t>
            </a:r>
            <a:endParaRPr lang="en-US" sz="1100" dirty="0"/>
          </a:p>
        </p:txBody>
      </p:sp>
      <p:sp>
        <p:nvSpPr>
          <p:cNvPr id="43" name="Text 41"/>
          <p:cNvSpPr/>
          <p:nvPr/>
        </p:nvSpPr>
        <p:spPr>
          <a:xfrm>
            <a:off x="2130552" y="2798064"/>
            <a:ext cx="1828800" cy="457200"/>
          </a:xfrm>
          <a:prstGeom prst="rect">
            <a:avLst/>
          </a:prstGeom>
          <a:noFill/>
          <a:ln/>
        </p:spPr>
        <p:txBody>
          <a:bodyPr wrap="square" rtlCol="0" anchor="ctr"/>
          <a:lstStyle/>
          <a:p>
            <a:pPr marL="0" indent="0">
              <a:buNone/>
            </a:pPr>
            <a:r>
              <a:rPr lang="en-US" sz="1100" b="1" dirty="0">
                <a:solidFill>
                  <a:srgbClr val="2E4272"/>
                </a:solidFill>
                <a:latin typeface="Georgia" pitchFamily="34" charset="0"/>
                <a:ea typeface="Georgia" pitchFamily="34" charset="-122"/>
                <a:cs typeface="Georgia" pitchFamily="34" charset="-120"/>
              </a:rPr>
              <a:t>Model Evaluation</a:t>
            </a:r>
            <a:endParaRPr lang="en-US" sz="1100" dirty="0"/>
          </a:p>
        </p:txBody>
      </p:sp>
      <p:sp>
        <p:nvSpPr>
          <p:cNvPr id="45" name="Shape 43"/>
          <p:cNvSpPr/>
          <p:nvPr/>
        </p:nvSpPr>
        <p:spPr>
          <a:xfrm>
            <a:off x="4572000" y="3803904"/>
            <a:ext cx="0" cy="109728"/>
          </a:xfrm>
          <a:prstGeom prst="line">
            <a:avLst/>
          </a:prstGeom>
          <a:noFill/>
          <a:ln w="25400">
            <a:solidFill>
              <a:srgbClr val="C9A84C"/>
            </a:solidFill>
            <a:prstDash val="solid"/>
          </a:ln>
        </p:spPr>
      </p:sp>
      <p:sp>
        <p:nvSpPr>
          <p:cNvPr id="46" name="Shape 44"/>
          <p:cNvSpPr/>
          <p:nvPr/>
        </p:nvSpPr>
        <p:spPr>
          <a:xfrm>
            <a:off x="4489704" y="3877056"/>
            <a:ext cx="164592" cy="54864"/>
          </a:xfrm>
          <a:prstGeom prst="rect">
            <a:avLst/>
          </a:prstGeom>
          <a:solidFill>
            <a:srgbClr val="C9A84C"/>
          </a:solidFill>
          <a:ln w="12700">
            <a:solidFill>
              <a:srgbClr val="C9A84C"/>
            </a:solidFill>
            <a:prstDash val="solid"/>
          </a:ln>
        </p:spPr>
      </p:sp>
      <p:sp>
        <p:nvSpPr>
          <p:cNvPr id="47" name="Shape 45"/>
          <p:cNvSpPr/>
          <p:nvPr/>
        </p:nvSpPr>
        <p:spPr>
          <a:xfrm>
            <a:off x="2093976" y="3374136"/>
            <a:ext cx="5120640" cy="457200"/>
          </a:xfrm>
          <a:prstGeom prst="rect">
            <a:avLst/>
          </a:prstGeom>
          <a:solidFill>
            <a:srgbClr val="FFFFFF"/>
          </a:solidFill>
          <a:ln w="12700">
            <a:solidFill>
              <a:srgbClr val="1C2B4A"/>
            </a:solidFill>
            <a:prstDash val="solid"/>
          </a:ln>
        </p:spPr>
        <p:txBody>
          <a:bodyPr/>
          <a:lstStyle/>
          <a:p>
            <a:r>
              <a:rPr lang="en-US" sz="1100" b="1" dirty="0">
                <a:solidFill>
                  <a:srgbClr val="1C2B4A"/>
                </a:solidFill>
                <a:latin typeface="Georgia" pitchFamily="34" charset="0"/>
                <a:ea typeface="Georgia" pitchFamily="34" charset="-122"/>
                <a:cs typeface="Georgia" pitchFamily="34" charset="-120"/>
              </a:rPr>
              <a:t>Best Model Selection</a:t>
            </a:r>
            <a:r>
              <a:rPr lang="en-IN" sz="1100" b="1" dirty="0">
                <a:solidFill>
                  <a:srgbClr val="1C2B4A"/>
                </a:solidFill>
                <a:latin typeface="Georgia" pitchFamily="34" charset="0"/>
                <a:ea typeface="Georgia" pitchFamily="34" charset="-122"/>
                <a:cs typeface="Georgia" pitchFamily="34" charset="-120"/>
              </a:rPr>
              <a:t>            </a:t>
            </a:r>
            <a:r>
              <a:rPr lang="en-US" sz="1100" dirty="0">
                <a:solidFill>
                  <a:srgbClr val="2C3E5A"/>
                </a:solidFill>
                <a:latin typeface="Calibri" pitchFamily="34" charset="0"/>
                <a:ea typeface="Calibri" pitchFamily="34" charset="-122"/>
                <a:cs typeface="Calibri" pitchFamily="34" charset="-120"/>
              </a:rPr>
              <a:t>Highest R2  |  Lowest </a:t>
            </a:r>
            <a:r>
              <a:rPr lang="en-US" sz="1100" dirty="0" err="1">
                <a:solidFill>
                  <a:srgbClr val="2C3E5A"/>
                </a:solidFill>
                <a:latin typeface="Calibri" pitchFamily="34" charset="0"/>
                <a:ea typeface="Calibri" pitchFamily="34" charset="-122"/>
                <a:cs typeface="Calibri" pitchFamily="34" charset="-120"/>
              </a:rPr>
              <a:t>rmc</a:t>
            </a:r>
            <a:r>
              <a:rPr lang="en-US" sz="1100" dirty="0">
                <a:solidFill>
                  <a:srgbClr val="2C3E5A"/>
                </a:solidFill>
                <a:latin typeface="Calibri" pitchFamily="34" charset="0"/>
                <a:ea typeface="Calibri" pitchFamily="34" charset="-122"/>
                <a:cs typeface="Calibri" pitchFamily="34" charset="-120"/>
              </a:rPr>
              <a:t>  |  Saved as .</a:t>
            </a:r>
            <a:r>
              <a:rPr lang="en-US" sz="1100" dirty="0" err="1">
                <a:solidFill>
                  <a:srgbClr val="2C3E5A"/>
                </a:solidFill>
                <a:latin typeface="Calibri" pitchFamily="34" charset="0"/>
                <a:ea typeface="Calibri" pitchFamily="34" charset="-122"/>
                <a:cs typeface="Calibri" pitchFamily="34" charset="-120"/>
              </a:rPr>
              <a:t>pkl</a:t>
            </a:r>
            <a:endParaRPr lang="en-US" sz="1100" dirty="0"/>
          </a:p>
          <a:p>
            <a:endParaRPr lang="en-US" sz="1100" dirty="0"/>
          </a:p>
        </p:txBody>
      </p:sp>
      <p:sp>
        <p:nvSpPr>
          <p:cNvPr id="48" name="Shape 46"/>
          <p:cNvSpPr/>
          <p:nvPr/>
        </p:nvSpPr>
        <p:spPr>
          <a:xfrm>
            <a:off x="2011680" y="3913632"/>
            <a:ext cx="73152" cy="457200"/>
          </a:xfrm>
          <a:prstGeom prst="rect">
            <a:avLst/>
          </a:prstGeom>
          <a:solidFill>
            <a:srgbClr val="C9A84C"/>
          </a:solidFill>
          <a:ln w="12700">
            <a:solidFill>
              <a:srgbClr val="C9A84C"/>
            </a:solidFill>
            <a:prstDash val="solid"/>
          </a:ln>
        </p:spPr>
      </p:sp>
      <p:sp>
        <p:nvSpPr>
          <p:cNvPr id="49" name="Shape 47"/>
          <p:cNvSpPr/>
          <p:nvPr/>
        </p:nvSpPr>
        <p:spPr>
          <a:xfrm>
            <a:off x="1508760" y="3986784"/>
            <a:ext cx="329184" cy="329184"/>
          </a:xfrm>
          <a:prstGeom prst="ellipse">
            <a:avLst/>
          </a:prstGeom>
          <a:solidFill>
            <a:srgbClr val="1C2B4A"/>
          </a:solidFill>
          <a:ln w="12700">
            <a:solidFill>
              <a:srgbClr val="1C2B4A"/>
            </a:solidFill>
            <a:prstDash val="solid"/>
          </a:ln>
        </p:spPr>
      </p:sp>
      <p:sp>
        <p:nvSpPr>
          <p:cNvPr id="50" name="Text 48"/>
          <p:cNvSpPr/>
          <p:nvPr/>
        </p:nvSpPr>
        <p:spPr>
          <a:xfrm>
            <a:off x="1508760" y="398678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6</a:t>
            </a:r>
            <a:endParaRPr lang="en-US" sz="1100" dirty="0"/>
          </a:p>
        </p:txBody>
      </p:sp>
      <p:sp>
        <p:nvSpPr>
          <p:cNvPr id="51" name="Text 49"/>
          <p:cNvSpPr/>
          <p:nvPr/>
        </p:nvSpPr>
        <p:spPr>
          <a:xfrm>
            <a:off x="2176272" y="3913632"/>
            <a:ext cx="1828800" cy="457200"/>
          </a:xfrm>
          <a:prstGeom prst="rect">
            <a:avLst/>
          </a:prstGeom>
          <a:noFill/>
          <a:ln/>
        </p:spPr>
        <p:txBody>
          <a:bodyPr wrap="square" rtlCol="0" anchor="ctr"/>
          <a:lstStyle/>
          <a:p>
            <a:pPr marL="0" indent="0">
              <a:buNone/>
            </a:pPr>
            <a:endParaRPr lang="en-US" sz="1100" dirty="0"/>
          </a:p>
        </p:txBody>
      </p:sp>
      <p:sp>
        <p:nvSpPr>
          <p:cNvPr id="53" name="Shape 51"/>
          <p:cNvSpPr/>
          <p:nvPr/>
        </p:nvSpPr>
        <p:spPr>
          <a:xfrm>
            <a:off x="4572000" y="4370832"/>
            <a:ext cx="0" cy="109728"/>
          </a:xfrm>
          <a:prstGeom prst="line">
            <a:avLst/>
          </a:prstGeom>
          <a:noFill/>
          <a:ln w="25400">
            <a:solidFill>
              <a:srgbClr val="C9A84C"/>
            </a:solidFill>
            <a:prstDash val="solid"/>
          </a:ln>
        </p:spPr>
      </p:sp>
      <p:sp>
        <p:nvSpPr>
          <p:cNvPr id="54" name="Shape 52"/>
          <p:cNvSpPr/>
          <p:nvPr/>
        </p:nvSpPr>
        <p:spPr>
          <a:xfrm>
            <a:off x="4489704" y="4443984"/>
            <a:ext cx="164592" cy="54864"/>
          </a:xfrm>
          <a:prstGeom prst="rect">
            <a:avLst/>
          </a:prstGeom>
          <a:solidFill>
            <a:srgbClr val="C9A84C"/>
          </a:solidFill>
          <a:ln w="12700">
            <a:solidFill>
              <a:srgbClr val="C9A84C"/>
            </a:solidFill>
            <a:prstDash val="solid"/>
          </a:ln>
        </p:spPr>
      </p:sp>
      <p:sp>
        <p:nvSpPr>
          <p:cNvPr id="55" name="Shape 53"/>
          <p:cNvSpPr/>
          <p:nvPr/>
        </p:nvSpPr>
        <p:spPr>
          <a:xfrm>
            <a:off x="2093976" y="3931920"/>
            <a:ext cx="5084766" cy="438912"/>
          </a:xfrm>
          <a:prstGeom prst="rect">
            <a:avLst/>
          </a:prstGeom>
          <a:solidFill>
            <a:srgbClr val="FFFFFF"/>
          </a:solidFill>
          <a:ln w="12700">
            <a:solidFill>
              <a:srgbClr val="1C2B4A"/>
            </a:solidFill>
            <a:prstDash val="solid"/>
          </a:ln>
        </p:spPr>
        <p:txBody>
          <a:bodyPr/>
          <a:lstStyle/>
          <a:p>
            <a:r>
              <a:rPr lang="en-US" sz="1200" b="1" dirty="0">
                <a:solidFill>
                  <a:srgbClr val="1C2B4A"/>
                </a:solidFill>
                <a:latin typeface="Georgia" pitchFamily="34" charset="0"/>
                <a:ea typeface="Georgia" pitchFamily="34" charset="-122"/>
                <a:cs typeface="Georgia" pitchFamily="34" charset="-120"/>
              </a:rPr>
              <a:t>Predicted Output</a:t>
            </a:r>
            <a:r>
              <a:rPr lang="en-IN" sz="1200" b="1" dirty="0">
                <a:solidFill>
                  <a:srgbClr val="1C2B4A"/>
                </a:solidFill>
                <a:latin typeface="Georgia" pitchFamily="34" charset="0"/>
                <a:ea typeface="Georgia" pitchFamily="34" charset="-122"/>
                <a:cs typeface="Georgia" pitchFamily="34" charset="-120"/>
              </a:rPr>
              <a:t>             </a:t>
            </a:r>
            <a:r>
              <a:rPr lang="en-US" sz="1000" dirty="0">
                <a:solidFill>
                  <a:srgbClr val="2C3E5A"/>
                </a:solidFill>
                <a:latin typeface="Calibri" pitchFamily="34" charset="0"/>
                <a:ea typeface="Calibri" pitchFamily="34" charset="-122"/>
                <a:cs typeface="Calibri" pitchFamily="34" charset="-120"/>
              </a:rPr>
              <a:t> </a:t>
            </a:r>
            <a:r>
              <a:rPr lang="en-US" sz="1100" dirty="0">
                <a:solidFill>
                  <a:srgbClr val="2C3E5A"/>
                </a:solidFill>
                <a:latin typeface="Calibri" pitchFamily="34" charset="0"/>
                <a:ea typeface="Calibri" pitchFamily="34" charset="-122"/>
                <a:cs typeface="Calibri" pitchFamily="34" charset="-120"/>
              </a:rPr>
              <a:t>future land  price prediction per sq. ft. displayed to user</a:t>
            </a:r>
            <a:endParaRPr lang="en-US" sz="1100" dirty="0"/>
          </a:p>
          <a:p>
            <a:endParaRPr lang="en-US" dirty="0"/>
          </a:p>
        </p:txBody>
      </p:sp>
      <p:sp>
        <p:nvSpPr>
          <p:cNvPr id="56" name="Shape 54"/>
          <p:cNvSpPr/>
          <p:nvPr/>
        </p:nvSpPr>
        <p:spPr>
          <a:xfrm>
            <a:off x="2011680" y="4480560"/>
            <a:ext cx="73152" cy="457200"/>
          </a:xfrm>
          <a:prstGeom prst="rect">
            <a:avLst/>
          </a:prstGeom>
          <a:solidFill>
            <a:srgbClr val="C9A84C"/>
          </a:solidFill>
          <a:ln w="12700">
            <a:solidFill>
              <a:srgbClr val="C9A84C"/>
            </a:solidFill>
            <a:prstDash val="solid"/>
          </a:ln>
        </p:spPr>
      </p:sp>
      <p:sp>
        <p:nvSpPr>
          <p:cNvPr id="57" name="Shape 55"/>
          <p:cNvSpPr/>
          <p:nvPr/>
        </p:nvSpPr>
        <p:spPr>
          <a:xfrm>
            <a:off x="1508760" y="4553712"/>
            <a:ext cx="329184" cy="329184"/>
          </a:xfrm>
          <a:prstGeom prst="ellipse">
            <a:avLst/>
          </a:prstGeom>
          <a:solidFill>
            <a:srgbClr val="1C2B4A"/>
          </a:solidFill>
          <a:ln w="12700">
            <a:solidFill>
              <a:srgbClr val="1C2B4A"/>
            </a:solidFill>
            <a:prstDash val="solid"/>
          </a:ln>
        </p:spPr>
      </p:sp>
      <p:sp>
        <p:nvSpPr>
          <p:cNvPr id="58" name="Text 56"/>
          <p:cNvSpPr/>
          <p:nvPr/>
        </p:nvSpPr>
        <p:spPr>
          <a:xfrm>
            <a:off x="1508760" y="455371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7</a:t>
            </a:r>
            <a:endParaRPr lang="en-US" sz="1100" dirty="0"/>
          </a:p>
        </p:txBody>
      </p:sp>
      <p:sp>
        <p:nvSpPr>
          <p:cNvPr id="59" name="Text 57"/>
          <p:cNvSpPr/>
          <p:nvPr/>
        </p:nvSpPr>
        <p:spPr>
          <a:xfrm>
            <a:off x="2176271" y="4480560"/>
            <a:ext cx="5020407" cy="457200"/>
          </a:xfrm>
          <a:prstGeom prst="rect">
            <a:avLst/>
          </a:prstGeom>
          <a:noFill/>
          <a:ln/>
        </p:spPr>
        <p:txBody>
          <a:bodyPr wrap="square" rtlCol="0" anchor="ctr"/>
          <a:lstStyle/>
          <a:p>
            <a:pPr marL="0" indent="0">
              <a:buNone/>
            </a:pPr>
            <a:endParaRPr lang="en-US" sz="1100" dirty="0"/>
          </a:p>
        </p:txBody>
      </p:sp>
      <p:sp>
        <p:nvSpPr>
          <p:cNvPr id="60" name="Text 58"/>
          <p:cNvSpPr/>
          <p:nvPr/>
        </p:nvSpPr>
        <p:spPr>
          <a:xfrm>
            <a:off x="2130551" y="4489704"/>
            <a:ext cx="5081249" cy="448056"/>
          </a:xfrm>
          <a:prstGeom prst="rect">
            <a:avLst/>
          </a:prstGeom>
          <a:noFill/>
          <a:ln/>
        </p:spPr>
        <p:txBody>
          <a:bodyPr wrap="square" rtlCol="0" anchor="ctr"/>
          <a:lstStyle/>
          <a:p>
            <a:pPr marL="0" indent="0">
              <a:buNone/>
            </a:pPr>
            <a:endParaRPr lang="en-US" sz="950" dirty="0"/>
          </a:p>
        </p:txBody>
      </p:sp>
      <p:sp>
        <p:nvSpPr>
          <p:cNvPr id="63" name="Shape 7">
            <a:extLst>
              <a:ext uri="{FF2B5EF4-FFF2-40B4-BE49-F238E27FC236}">
                <a16:creationId xmlns:a16="http://schemas.microsoft.com/office/drawing/2014/main" id="{2A997E59-028F-2388-D424-145F9169D6E3}"/>
              </a:ext>
            </a:extLst>
          </p:cNvPr>
          <p:cNvSpPr/>
          <p:nvPr/>
        </p:nvSpPr>
        <p:spPr>
          <a:xfrm>
            <a:off x="1517904" y="1152144"/>
            <a:ext cx="329184" cy="329184"/>
          </a:xfrm>
          <a:prstGeom prst="ellipse">
            <a:avLst/>
          </a:prstGeom>
          <a:solidFill>
            <a:srgbClr val="1C2B4A"/>
          </a:solidFill>
          <a:ln w="12700">
            <a:solidFill>
              <a:srgbClr val="1C2B4A"/>
            </a:solidFill>
            <a:prstDash val="solid"/>
          </a:ln>
        </p:spPr>
        <p:txBody>
          <a:bodyPr/>
          <a:lstStyle/>
          <a:p>
            <a:pPr algn="ctr"/>
            <a:r>
              <a:rPr lang="en-IN" dirty="0"/>
              <a:t>1</a:t>
            </a:r>
          </a:p>
        </p:txBody>
      </p:sp>
      <p:sp>
        <p:nvSpPr>
          <p:cNvPr id="69" name="Rectangle 68">
            <a:extLst>
              <a:ext uri="{FF2B5EF4-FFF2-40B4-BE49-F238E27FC236}">
                <a16:creationId xmlns:a16="http://schemas.microsoft.com/office/drawing/2014/main" id="{B5488536-6D0B-5C23-B61E-8B0B291C3289}"/>
              </a:ext>
            </a:extLst>
          </p:cNvPr>
          <p:cNvSpPr/>
          <p:nvPr/>
        </p:nvSpPr>
        <p:spPr>
          <a:xfrm>
            <a:off x="2115429" y="4489704"/>
            <a:ext cx="5081249" cy="39319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sz="1400" b="1" dirty="0">
                <a:solidFill>
                  <a:schemeClr val="tx2">
                    <a:lumMod val="50000"/>
                  </a:schemeClr>
                </a:solidFill>
              </a:rPr>
              <a:t>User interface                      </a:t>
            </a:r>
            <a:r>
              <a:rPr lang="en-IN" sz="1100" b="1" i="1" dirty="0" err="1">
                <a:solidFill>
                  <a:schemeClr val="tx2">
                    <a:lumMod val="50000"/>
                  </a:schemeClr>
                </a:solidFill>
                <a:latin typeface="Calibri" panose="020F0502020204030204" pitchFamily="34" charset="0"/>
                <a:ea typeface="Calibri" panose="020F0502020204030204" pitchFamily="34" charset="0"/>
                <a:cs typeface="Calibri" panose="020F0502020204030204" pitchFamily="34" charset="0"/>
              </a:rPr>
              <a:t>streamli</a:t>
            </a:r>
            <a:r>
              <a:rPr lang="en-IN" sz="1100" b="1" u="sng" dirty="0" err="1">
                <a:solidFill>
                  <a:schemeClr val="tx2">
                    <a:lumMod val="50000"/>
                  </a:schemeClr>
                </a:solidFill>
                <a:latin typeface="Calibri" panose="020F0502020204030204" pitchFamily="34" charset="0"/>
                <a:ea typeface="Calibri" panose="020F0502020204030204" pitchFamily="34" charset="0"/>
                <a:cs typeface="Calibri" panose="020F0502020204030204" pitchFamily="34" charset="0"/>
              </a:rPr>
              <a:t>t</a:t>
            </a:r>
            <a:r>
              <a:rPr lang="en-IN" sz="1100" dirty="0">
                <a:solidFill>
                  <a:schemeClr val="tx2">
                    <a:lumMod val="50000"/>
                  </a:schemeClr>
                </a:solidFill>
                <a:latin typeface="Calibri" panose="020F0502020204030204" pitchFamily="34" charset="0"/>
                <a:ea typeface="Calibri" panose="020F0502020204030204" pitchFamily="34" charset="0"/>
                <a:cs typeface="Calibri" panose="020F0502020204030204" pitchFamily="34" charset="0"/>
              </a:rPr>
              <a:t> web app</a:t>
            </a:r>
          </a:p>
        </p:txBody>
      </p:sp>
      <p:sp>
        <p:nvSpPr>
          <p:cNvPr id="7" name="Shape 14">
            <a:extLst>
              <a:ext uri="{FF2B5EF4-FFF2-40B4-BE49-F238E27FC236}">
                <a16:creationId xmlns:a16="http://schemas.microsoft.com/office/drawing/2014/main" id="{C864704B-1E13-71AB-7952-06820595E51B}"/>
              </a:ext>
            </a:extLst>
          </p:cNvPr>
          <p:cNvSpPr/>
          <p:nvPr/>
        </p:nvSpPr>
        <p:spPr>
          <a:xfrm>
            <a:off x="2011680" y="1069848"/>
            <a:ext cx="103750" cy="438912"/>
          </a:xfrm>
          <a:prstGeom prst="rect">
            <a:avLst/>
          </a:prstGeom>
          <a:solidFill>
            <a:srgbClr val="C9A84C"/>
          </a:solidFill>
          <a:ln w="12700">
            <a:solidFill>
              <a:srgbClr val="C9A84C"/>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Machine Learning Model Strategy</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Shape 5"/>
          <p:cNvSpPr/>
          <p:nvPr/>
        </p:nvSpPr>
        <p:spPr>
          <a:xfrm>
            <a:off x="320040" y="1097280"/>
            <a:ext cx="4069080" cy="1554480"/>
          </a:xfrm>
          <a:prstGeom prst="rect">
            <a:avLst/>
          </a:prstGeom>
          <a:solidFill>
            <a:srgbClr val="FFFFFF"/>
          </a:solidFill>
          <a:ln w="12700">
            <a:solidFill>
              <a:srgbClr val="1C2B4A"/>
            </a:solidFill>
            <a:prstDash val="solid"/>
          </a:ln>
        </p:spPr>
      </p:sp>
      <p:sp>
        <p:nvSpPr>
          <p:cNvPr id="8" name="Shape 6"/>
          <p:cNvSpPr/>
          <p:nvPr/>
        </p:nvSpPr>
        <p:spPr>
          <a:xfrm>
            <a:off x="320040" y="1097280"/>
            <a:ext cx="64008" cy="1554480"/>
          </a:xfrm>
          <a:prstGeom prst="rect">
            <a:avLst/>
          </a:prstGeom>
          <a:solidFill>
            <a:srgbClr val="C9A84C"/>
          </a:solidFill>
          <a:ln w="12700">
            <a:solidFill>
              <a:srgbClr val="C9A84C"/>
            </a:solidFill>
            <a:prstDash val="solid"/>
          </a:ln>
        </p:spPr>
      </p:sp>
      <p:sp>
        <p:nvSpPr>
          <p:cNvPr id="9" name="Text 7"/>
          <p:cNvSpPr/>
          <p:nvPr/>
        </p:nvSpPr>
        <p:spPr>
          <a:xfrm>
            <a:off x="502920" y="1234440"/>
            <a:ext cx="3749040" cy="347472"/>
          </a:xfrm>
          <a:prstGeom prst="rect">
            <a:avLst/>
          </a:prstGeom>
          <a:noFill/>
          <a:ln/>
        </p:spPr>
        <p:txBody>
          <a:bodyPr wrap="square" rtlCol="0" anchor="ctr"/>
          <a:lstStyle/>
          <a:p>
            <a:pPr marL="0" indent="0">
              <a:buNone/>
            </a:pPr>
            <a:r>
              <a:rPr lang="en-US" sz="1300" b="1" dirty="0">
                <a:solidFill>
                  <a:srgbClr val="1C2B4A"/>
                </a:solidFill>
                <a:latin typeface="Georgia" pitchFamily="34" charset="0"/>
                <a:ea typeface="Georgia" pitchFamily="34" charset="-122"/>
                <a:cs typeface="Georgia" pitchFamily="34" charset="-120"/>
              </a:rPr>
              <a:t>Regression Approach</a:t>
            </a:r>
            <a:endParaRPr lang="en-US" sz="1300" dirty="0"/>
          </a:p>
        </p:txBody>
      </p:sp>
      <p:sp>
        <p:nvSpPr>
          <p:cNvPr id="10" name="Text 8"/>
          <p:cNvSpPr/>
          <p:nvPr/>
        </p:nvSpPr>
        <p:spPr>
          <a:xfrm>
            <a:off x="502920" y="1600200"/>
            <a:ext cx="3749040" cy="960120"/>
          </a:xfrm>
          <a:prstGeom prst="rect">
            <a:avLst/>
          </a:prstGeom>
          <a:noFill/>
          <a:ln/>
        </p:spPr>
        <p:txBody>
          <a:bodyPr wrap="square" rtlCol="0" anchor="ctr"/>
          <a:lstStyle/>
          <a:p>
            <a:pPr marL="0" indent="0" algn="just">
              <a:buNone/>
            </a:pPr>
            <a:r>
              <a:rPr lang="en-US" sz="1400" dirty="0">
                <a:solidFill>
                  <a:srgbClr val="2C3E5A"/>
                </a:solidFill>
                <a:latin typeface="Calibri" pitchFamily="34" charset="0"/>
                <a:ea typeface="Calibri" pitchFamily="34" charset="-122"/>
                <a:cs typeface="Calibri" pitchFamily="34" charset="-120"/>
              </a:rPr>
              <a:t>Continuous target variable —  future land price per sq. ft. — makes regression the ideal approach for precise numerical prediction.</a:t>
            </a:r>
            <a:endParaRPr lang="en-US" sz="1400" dirty="0"/>
          </a:p>
        </p:txBody>
      </p:sp>
      <p:sp>
        <p:nvSpPr>
          <p:cNvPr id="11" name="Shape 9"/>
          <p:cNvSpPr/>
          <p:nvPr/>
        </p:nvSpPr>
        <p:spPr>
          <a:xfrm>
            <a:off x="4754880" y="1097280"/>
            <a:ext cx="4069080" cy="1554480"/>
          </a:xfrm>
          <a:prstGeom prst="rect">
            <a:avLst/>
          </a:prstGeom>
          <a:solidFill>
            <a:srgbClr val="FFFFFF"/>
          </a:solidFill>
          <a:ln w="12700">
            <a:solidFill>
              <a:srgbClr val="1C2B4A"/>
            </a:solidFill>
            <a:prstDash val="solid"/>
          </a:ln>
        </p:spPr>
      </p:sp>
      <p:sp>
        <p:nvSpPr>
          <p:cNvPr id="12" name="Shape 10"/>
          <p:cNvSpPr/>
          <p:nvPr/>
        </p:nvSpPr>
        <p:spPr>
          <a:xfrm>
            <a:off x="4754880" y="1097280"/>
            <a:ext cx="64008" cy="1554480"/>
          </a:xfrm>
          <a:prstGeom prst="rect">
            <a:avLst/>
          </a:prstGeom>
          <a:solidFill>
            <a:srgbClr val="C9A84C"/>
          </a:solidFill>
          <a:ln w="12700">
            <a:solidFill>
              <a:srgbClr val="C9A84C"/>
            </a:solidFill>
            <a:prstDash val="solid"/>
          </a:ln>
        </p:spPr>
      </p:sp>
      <p:sp>
        <p:nvSpPr>
          <p:cNvPr id="13" name="Text 11"/>
          <p:cNvSpPr/>
          <p:nvPr/>
        </p:nvSpPr>
        <p:spPr>
          <a:xfrm>
            <a:off x="4937760" y="1234440"/>
            <a:ext cx="3749040" cy="347472"/>
          </a:xfrm>
          <a:prstGeom prst="rect">
            <a:avLst/>
          </a:prstGeom>
          <a:noFill/>
          <a:ln/>
        </p:spPr>
        <p:txBody>
          <a:bodyPr wrap="square" rtlCol="0" anchor="ctr"/>
          <a:lstStyle/>
          <a:p>
            <a:pPr marL="0" indent="0">
              <a:buNone/>
            </a:pPr>
            <a:r>
              <a:rPr lang="en-US" sz="1300" b="1" dirty="0">
                <a:solidFill>
                  <a:srgbClr val="1C2B4A"/>
                </a:solidFill>
                <a:latin typeface="Georgia" pitchFamily="34" charset="0"/>
                <a:ea typeface="Georgia" pitchFamily="34" charset="-122"/>
                <a:cs typeface="Georgia" pitchFamily="34" charset="-120"/>
              </a:rPr>
              <a:t>Multiple Algorithms</a:t>
            </a:r>
            <a:endParaRPr lang="en-US" sz="1300" dirty="0"/>
          </a:p>
        </p:txBody>
      </p:sp>
      <p:sp>
        <p:nvSpPr>
          <p:cNvPr id="14" name="Text 12"/>
          <p:cNvSpPr/>
          <p:nvPr/>
        </p:nvSpPr>
        <p:spPr>
          <a:xfrm>
            <a:off x="4937760" y="1600200"/>
            <a:ext cx="3749040" cy="960120"/>
          </a:xfrm>
          <a:prstGeom prst="rect">
            <a:avLst/>
          </a:prstGeom>
          <a:noFill/>
          <a:ln/>
        </p:spPr>
        <p:txBody>
          <a:bodyPr wrap="square" rtlCol="0" anchor="ctr"/>
          <a:lstStyle/>
          <a:p>
            <a:pPr marL="0" indent="0" algn="just">
              <a:buNone/>
            </a:pPr>
            <a:r>
              <a:rPr lang="en-US" sz="1400" dirty="0">
                <a:solidFill>
                  <a:srgbClr val="2C3E5A"/>
                </a:solidFill>
                <a:latin typeface="Calibri" pitchFamily="34" charset="0"/>
                <a:ea typeface="Calibri" pitchFamily="34" charset="-122"/>
                <a:cs typeface="Calibri" pitchFamily="34" charset="-120"/>
              </a:rPr>
              <a:t>Random Forest · XGBoost · Linear Regression , Decision Tree trained and compared to find the best-performing model.</a:t>
            </a:r>
            <a:endParaRPr lang="en-US" sz="1400" dirty="0"/>
          </a:p>
        </p:txBody>
      </p:sp>
      <p:sp>
        <p:nvSpPr>
          <p:cNvPr id="15" name="Shape 13"/>
          <p:cNvSpPr/>
          <p:nvPr/>
        </p:nvSpPr>
        <p:spPr>
          <a:xfrm>
            <a:off x="320040" y="2880360"/>
            <a:ext cx="4069080" cy="1554480"/>
          </a:xfrm>
          <a:prstGeom prst="rect">
            <a:avLst/>
          </a:prstGeom>
          <a:solidFill>
            <a:srgbClr val="FFFFFF"/>
          </a:solidFill>
          <a:ln w="12700">
            <a:solidFill>
              <a:srgbClr val="1C2B4A"/>
            </a:solidFill>
            <a:prstDash val="solid"/>
          </a:ln>
        </p:spPr>
      </p:sp>
      <p:sp>
        <p:nvSpPr>
          <p:cNvPr id="16" name="Shape 14"/>
          <p:cNvSpPr/>
          <p:nvPr/>
        </p:nvSpPr>
        <p:spPr>
          <a:xfrm>
            <a:off x="320040" y="2880360"/>
            <a:ext cx="64008" cy="1554480"/>
          </a:xfrm>
          <a:prstGeom prst="rect">
            <a:avLst/>
          </a:prstGeom>
          <a:solidFill>
            <a:srgbClr val="C9A84C"/>
          </a:solidFill>
          <a:ln w="12700">
            <a:solidFill>
              <a:srgbClr val="C9A84C"/>
            </a:solidFill>
            <a:prstDash val="solid"/>
          </a:ln>
        </p:spPr>
      </p:sp>
      <p:sp>
        <p:nvSpPr>
          <p:cNvPr id="17" name="Text 15"/>
          <p:cNvSpPr/>
          <p:nvPr/>
        </p:nvSpPr>
        <p:spPr>
          <a:xfrm>
            <a:off x="502920" y="3017520"/>
            <a:ext cx="3749040" cy="347472"/>
          </a:xfrm>
          <a:prstGeom prst="rect">
            <a:avLst/>
          </a:prstGeom>
          <a:noFill/>
          <a:ln/>
        </p:spPr>
        <p:txBody>
          <a:bodyPr wrap="square" rtlCol="0" anchor="ctr"/>
          <a:lstStyle/>
          <a:p>
            <a:pPr marL="0" indent="0">
              <a:buNone/>
            </a:pPr>
            <a:r>
              <a:rPr lang="en-US" sz="1300" b="1" dirty="0">
                <a:solidFill>
                  <a:srgbClr val="1C2B4A"/>
                </a:solidFill>
                <a:latin typeface="Georgia" pitchFamily="34" charset="0"/>
                <a:ea typeface="Georgia" pitchFamily="34" charset="-122"/>
                <a:cs typeface="Georgia" pitchFamily="34" charset="-120"/>
              </a:rPr>
              <a:t>Training Methodology</a:t>
            </a:r>
            <a:endParaRPr lang="en-US" sz="1300" dirty="0"/>
          </a:p>
        </p:txBody>
      </p:sp>
      <p:sp>
        <p:nvSpPr>
          <p:cNvPr id="18" name="Text 16"/>
          <p:cNvSpPr/>
          <p:nvPr/>
        </p:nvSpPr>
        <p:spPr>
          <a:xfrm>
            <a:off x="502920" y="3383280"/>
            <a:ext cx="3749040" cy="96012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Train/Test split . Models evaluated using standard regression metrics.</a:t>
            </a:r>
            <a:endParaRPr lang="en-US" sz="1400" dirty="0"/>
          </a:p>
        </p:txBody>
      </p:sp>
      <p:sp>
        <p:nvSpPr>
          <p:cNvPr id="19" name="Shape 17"/>
          <p:cNvSpPr/>
          <p:nvPr/>
        </p:nvSpPr>
        <p:spPr>
          <a:xfrm>
            <a:off x="4754880" y="2880360"/>
            <a:ext cx="4069080" cy="1554480"/>
          </a:xfrm>
          <a:prstGeom prst="rect">
            <a:avLst/>
          </a:prstGeom>
          <a:solidFill>
            <a:srgbClr val="FFFFFF"/>
          </a:solidFill>
          <a:ln w="12700">
            <a:solidFill>
              <a:srgbClr val="1C2B4A"/>
            </a:solidFill>
            <a:prstDash val="solid"/>
          </a:ln>
        </p:spPr>
      </p:sp>
      <p:sp>
        <p:nvSpPr>
          <p:cNvPr id="20" name="Shape 18"/>
          <p:cNvSpPr/>
          <p:nvPr/>
        </p:nvSpPr>
        <p:spPr>
          <a:xfrm>
            <a:off x="4754880" y="2880360"/>
            <a:ext cx="64008" cy="1554480"/>
          </a:xfrm>
          <a:prstGeom prst="rect">
            <a:avLst/>
          </a:prstGeom>
          <a:solidFill>
            <a:srgbClr val="C9A84C"/>
          </a:solidFill>
          <a:ln w="12700">
            <a:solidFill>
              <a:srgbClr val="C9A84C"/>
            </a:solidFill>
            <a:prstDash val="solid"/>
          </a:ln>
        </p:spPr>
      </p:sp>
      <p:sp>
        <p:nvSpPr>
          <p:cNvPr id="21" name="Text 19"/>
          <p:cNvSpPr/>
          <p:nvPr/>
        </p:nvSpPr>
        <p:spPr>
          <a:xfrm>
            <a:off x="4937760" y="3017520"/>
            <a:ext cx="3749040" cy="347472"/>
          </a:xfrm>
          <a:prstGeom prst="rect">
            <a:avLst/>
          </a:prstGeom>
          <a:noFill/>
          <a:ln/>
        </p:spPr>
        <p:txBody>
          <a:bodyPr wrap="square" rtlCol="0" anchor="ctr"/>
          <a:lstStyle/>
          <a:p>
            <a:pPr marL="0" indent="0">
              <a:buNone/>
            </a:pPr>
            <a:r>
              <a:rPr lang="en-US" sz="1300" b="1" dirty="0">
                <a:solidFill>
                  <a:srgbClr val="1C2B4A"/>
                </a:solidFill>
                <a:latin typeface="Georgia" pitchFamily="34" charset="0"/>
                <a:ea typeface="Georgia" pitchFamily="34" charset="-122"/>
                <a:cs typeface="Georgia" pitchFamily="34" charset="-120"/>
              </a:rPr>
              <a:t>Accuracy &amp; Explainability</a:t>
            </a:r>
            <a:endParaRPr lang="en-US" sz="1300" dirty="0"/>
          </a:p>
        </p:txBody>
      </p:sp>
      <p:sp>
        <p:nvSpPr>
          <p:cNvPr id="22" name="Text 20"/>
          <p:cNvSpPr/>
          <p:nvPr/>
        </p:nvSpPr>
        <p:spPr>
          <a:xfrm>
            <a:off x="4937760" y="3383280"/>
            <a:ext cx="3749040" cy="96012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MAE, RMSE, and R² Score used for evaluation. Feature importance reveals key land price drivers.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Data Preprocessing</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Shape 5"/>
          <p:cNvSpPr/>
          <p:nvPr/>
        </p:nvSpPr>
        <p:spPr>
          <a:xfrm>
            <a:off x="320040" y="1097280"/>
            <a:ext cx="8503920" cy="1024128"/>
          </a:xfrm>
          <a:prstGeom prst="rect">
            <a:avLst/>
          </a:prstGeom>
          <a:solidFill>
            <a:srgbClr val="FFFFFF"/>
          </a:solidFill>
          <a:ln w="12700">
            <a:solidFill>
              <a:srgbClr val="1C2B4A"/>
            </a:solidFill>
            <a:prstDash val="solid"/>
          </a:ln>
        </p:spPr>
      </p:sp>
      <p:sp>
        <p:nvSpPr>
          <p:cNvPr id="8" name="Shape 6"/>
          <p:cNvSpPr/>
          <p:nvPr/>
        </p:nvSpPr>
        <p:spPr>
          <a:xfrm>
            <a:off x="320040" y="1097280"/>
            <a:ext cx="64008" cy="1024128"/>
          </a:xfrm>
          <a:prstGeom prst="rect">
            <a:avLst/>
          </a:prstGeom>
          <a:solidFill>
            <a:srgbClr val="C9A84C"/>
          </a:solidFill>
          <a:ln w="12700">
            <a:solidFill>
              <a:srgbClr val="C9A84C"/>
            </a:solidFill>
            <a:prstDash val="solid"/>
          </a:ln>
        </p:spPr>
      </p:sp>
      <p:sp>
        <p:nvSpPr>
          <p:cNvPr id="9" name="Shape 7"/>
          <p:cNvSpPr/>
          <p:nvPr/>
        </p:nvSpPr>
        <p:spPr>
          <a:xfrm>
            <a:off x="320040" y="1097280"/>
            <a:ext cx="475488" cy="475488"/>
          </a:xfrm>
          <a:prstGeom prst="rect">
            <a:avLst/>
          </a:prstGeom>
          <a:solidFill>
            <a:srgbClr val="1C2B4A"/>
          </a:solidFill>
          <a:ln w="12700">
            <a:solidFill>
              <a:srgbClr val="1C2B4A"/>
            </a:solidFill>
            <a:prstDash val="solid"/>
          </a:ln>
        </p:spPr>
      </p:sp>
      <p:sp>
        <p:nvSpPr>
          <p:cNvPr id="10" name="Text 8"/>
          <p:cNvSpPr/>
          <p:nvPr/>
        </p:nvSpPr>
        <p:spPr>
          <a:xfrm>
            <a:off x="320040" y="1097280"/>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1" name="Text 9"/>
          <p:cNvSpPr/>
          <p:nvPr/>
        </p:nvSpPr>
        <p:spPr>
          <a:xfrm>
            <a:off x="960120" y="1170432"/>
            <a:ext cx="7680960" cy="320040"/>
          </a:xfrm>
          <a:prstGeom prst="rect">
            <a:avLst/>
          </a:prstGeom>
          <a:noFill/>
          <a:ln/>
        </p:spPr>
        <p:txBody>
          <a:bodyPr wrap="square" rtlCol="0" anchor="ctr"/>
          <a:lstStyle/>
          <a:p>
            <a:pPr marL="0" indent="0">
              <a:buNone/>
            </a:pPr>
            <a:r>
              <a:rPr lang="en-US" sz="1400" b="1" dirty="0">
                <a:solidFill>
                  <a:srgbClr val="1C2B4A"/>
                </a:solidFill>
                <a:latin typeface="Georgia" pitchFamily="34" charset="0"/>
                <a:ea typeface="Georgia" pitchFamily="34" charset="-122"/>
                <a:cs typeface="Georgia" pitchFamily="34" charset="-120"/>
              </a:rPr>
              <a:t>Handle Missing Values</a:t>
            </a:r>
            <a:endParaRPr lang="en-US" sz="1400" dirty="0"/>
          </a:p>
        </p:txBody>
      </p:sp>
      <p:sp>
        <p:nvSpPr>
          <p:cNvPr id="12" name="Text 10"/>
          <p:cNvSpPr/>
          <p:nvPr/>
        </p:nvSpPr>
        <p:spPr>
          <a:xfrm>
            <a:off x="960120" y="1536192"/>
            <a:ext cx="7680960" cy="50292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Identify and impute null entries to ensure data integrity and prevent model errors during training.</a:t>
            </a:r>
            <a:endParaRPr lang="en-US" sz="1400" dirty="0"/>
          </a:p>
        </p:txBody>
      </p:sp>
      <p:sp>
        <p:nvSpPr>
          <p:cNvPr id="13" name="Shape 11"/>
          <p:cNvSpPr/>
          <p:nvPr/>
        </p:nvSpPr>
        <p:spPr>
          <a:xfrm>
            <a:off x="320040" y="2304288"/>
            <a:ext cx="8503920" cy="1024128"/>
          </a:xfrm>
          <a:prstGeom prst="rect">
            <a:avLst/>
          </a:prstGeom>
          <a:solidFill>
            <a:srgbClr val="FFFFFF"/>
          </a:solidFill>
          <a:ln w="12700">
            <a:solidFill>
              <a:srgbClr val="1C2B4A"/>
            </a:solidFill>
            <a:prstDash val="solid"/>
          </a:ln>
        </p:spPr>
      </p:sp>
      <p:sp>
        <p:nvSpPr>
          <p:cNvPr id="14" name="Shape 12"/>
          <p:cNvSpPr/>
          <p:nvPr/>
        </p:nvSpPr>
        <p:spPr>
          <a:xfrm>
            <a:off x="320040" y="2304288"/>
            <a:ext cx="64008" cy="1024128"/>
          </a:xfrm>
          <a:prstGeom prst="rect">
            <a:avLst/>
          </a:prstGeom>
          <a:solidFill>
            <a:srgbClr val="C9A84C"/>
          </a:solidFill>
          <a:ln w="12700">
            <a:solidFill>
              <a:srgbClr val="C9A84C"/>
            </a:solidFill>
            <a:prstDash val="solid"/>
          </a:ln>
        </p:spPr>
      </p:sp>
      <p:sp>
        <p:nvSpPr>
          <p:cNvPr id="15" name="Shape 13"/>
          <p:cNvSpPr/>
          <p:nvPr/>
        </p:nvSpPr>
        <p:spPr>
          <a:xfrm>
            <a:off x="320040" y="2304288"/>
            <a:ext cx="475488" cy="475488"/>
          </a:xfrm>
          <a:prstGeom prst="rect">
            <a:avLst/>
          </a:prstGeom>
          <a:solidFill>
            <a:srgbClr val="1C2B4A"/>
          </a:solidFill>
          <a:ln w="12700">
            <a:solidFill>
              <a:srgbClr val="1C2B4A"/>
            </a:solidFill>
            <a:prstDash val="solid"/>
          </a:ln>
        </p:spPr>
      </p:sp>
      <p:sp>
        <p:nvSpPr>
          <p:cNvPr id="16" name="Text 14"/>
          <p:cNvSpPr/>
          <p:nvPr/>
        </p:nvSpPr>
        <p:spPr>
          <a:xfrm>
            <a:off x="320040" y="230428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7" name="Text 15"/>
          <p:cNvSpPr/>
          <p:nvPr/>
        </p:nvSpPr>
        <p:spPr>
          <a:xfrm>
            <a:off x="960120" y="2377440"/>
            <a:ext cx="7680960" cy="320040"/>
          </a:xfrm>
          <a:prstGeom prst="rect">
            <a:avLst/>
          </a:prstGeom>
          <a:noFill/>
          <a:ln/>
        </p:spPr>
        <p:txBody>
          <a:bodyPr wrap="square" rtlCol="0" anchor="ctr"/>
          <a:lstStyle/>
          <a:p>
            <a:pPr marL="0" indent="0">
              <a:buNone/>
            </a:pPr>
            <a:r>
              <a:rPr lang="en-US" sz="1400" b="1" dirty="0">
                <a:solidFill>
                  <a:srgbClr val="1C2B4A"/>
                </a:solidFill>
                <a:latin typeface="Georgia" pitchFamily="34" charset="0"/>
                <a:ea typeface="Georgia" pitchFamily="34" charset="-122"/>
                <a:cs typeface="Georgia" pitchFamily="34" charset="-120"/>
              </a:rPr>
              <a:t>Ordinal Encoding</a:t>
            </a:r>
            <a:endParaRPr lang="en-US" sz="1400" dirty="0"/>
          </a:p>
        </p:txBody>
      </p:sp>
      <p:sp>
        <p:nvSpPr>
          <p:cNvPr id="18" name="Text 16"/>
          <p:cNvSpPr/>
          <p:nvPr/>
        </p:nvSpPr>
        <p:spPr>
          <a:xfrm>
            <a:off x="960120" y="2743200"/>
            <a:ext cx="7680960" cy="50292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Convert categorical data (city tier, zoning type, flood risk category, govt. development plans) into ordered numerical form using Ordinal Encoding.</a:t>
            </a:r>
            <a:endParaRPr lang="en-US" sz="1400" dirty="0"/>
          </a:p>
        </p:txBody>
      </p:sp>
      <p:sp>
        <p:nvSpPr>
          <p:cNvPr id="19" name="Shape 17"/>
          <p:cNvSpPr/>
          <p:nvPr/>
        </p:nvSpPr>
        <p:spPr>
          <a:xfrm>
            <a:off x="320040" y="3511296"/>
            <a:ext cx="8503920" cy="1024128"/>
          </a:xfrm>
          <a:prstGeom prst="rect">
            <a:avLst/>
          </a:prstGeom>
          <a:solidFill>
            <a:srgbClr val="FFFFFF"/>
          </a:solidFill>
          <a:ln w="12700">
            <a:solidFill>
              <a:srgbClr val="1C2B4A"/>
            </a:solidFill>
            <a:prstDash val="solid"/>
          </a:ln>
        </p:spPr>
      </p:sp>
      <p:sp>
        <p:nvSpPr>
          <p:cNvPr id="20" name="Shape 18"/>
          <p:cNvSpPr/>
          <p:nvPr/>
        </p:nvSpPr>
        <p:spPr>
          <a:xfrm>
            <a:off x="320040" y="3511296"/>
            <a:ext cx="64008" cy="1024128"/>
          </a:xfrm>
          <a:prstGeom prst="rect">
            <a:avLst/>
          </a:prstGeom>
          <a:solidFill>
            <a:srgbClr val="C9A84C"/>
          </a:solidFill>
          <a:ln w="12700">
            <a:solidFill>
              <a:srgbClr val="C9A84C"/>
            </a:solidFill>
            <a:prstDash val="solid"/>
          </a:ln>
        </p:spPr>
      </p:sp>
      <p:sp>
        <p:nvSpPr>
          <p:cNvPr id="21" name="Shape 19"/>
          <p:cNvSpPr/>
          <p:nvPr/>
        </p:nvSpPr>
        <p:spPr>
          <a:xfrm>
            <a:off x="320040" y="3511296"/>
            <a:ext cx="475488" cy="475488"/>
          </a:xfrm>
          <a:prstGeom prst="rect">
            <a:avLst/>
          </a:prstGeom>
          <a:solidFill>
            <a:srgbClr val="1C2B4A"/>
          </a:solidFill>
          <a:ln w="12700">
            <a:solidFill>
              <a:srgbClr val="1C2B4A"/>
            </a:solidFill>
            <a:prstDash val="solid"/>
          </a:ln>
        </p:spPr>
      </p:sp>
      <p:sp>
        <p:nvSpPr>
          <p:cNvPr id="22" name="Text 20"/>
          <p:cNvSpPr/>
          <p:nvPr/>
        </p:nvSpPr>
        <p:spPr>
          <a:xfrm>
            <a:off x="320040" y="3511296"/>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3" name="Text 21"/>
          <p:cNvSpPr/>
          <p:nvPr/>
        </p:nvSpPr>
        <p:spPr>
          <a:xfrm>
            <a:off x="960120" y="3584448"/>
            <a:ext cx="7680960" cy="320040"/>
          </a:xfrm>
          <a:prstGeom prst="rect">
            <a:avLst/>
          </a:prstGeom>
          <a:noFill/>
          <a:ln/>
        </p:spPr>
        <p:txBody>
          <a:bodyPr wrap="square" rtlCol="0" anchor="ctr"/>
          <a:lstStyle/>
          <a:p>
            <a:pPr marL="0" indent="0">
              <a:buNone/>
            </a:pPr>
            <a:r>
              <a:rPr lang="en-US" sz="1400" b="1" dirty="0">
                <a:solidFill>
                  <a:srgbClr val="1C2B4A"/>
                </a:solidFill>
                <a:latin typeface="Georgia" pitchFamily="34" charset="0"/>
                <a:ea typeface="Georgia" pitchFamily="34" charset="-122"/>
                <a:cs typeface="Georgia" pitchFamily="34" charset="-120"/>
              </a:rPr>
              <a:t>Scale Numerical Features</a:t>
            </a:r>
            <a:endParaRPr lang="en-US" sz="1400" dirty="0"/>
          </a:p>
        </p:txBody>
      </p:sp>
      <p:sp>
        <p:nvSpPr>
          <p:cNvPr id="24" name="Text 22"/>
          <p:cNvSpPr/>
          <p:nvPr/>
        </p:nvSpPr>
        <p:spPr>
          <a:xfrm>
            <a:off x="960120" y="3950208"/>
            <a:ext cx="7680960" cy="50292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Normalize continuous variables (distances, growth %, scores) using Standard Scaler to improve convergence of regression algorithms.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Training Methodology</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Text 5"/>
          <p:cNvSpPr/>
          <p:nvPr/>
        </p:nvSpPr>
        <p:spPr>
          <a:xfrm>
            <a:off x="457200" y="1051560"/>
            <a:ext cx="8229600" cy="502920"/>
          </a:xfrm>
          <a:prstGeom prst="rect">
            <a:avLst/>
          </a:prstGeom>
          <a:noFill/>
          <a:ln/>
        </p:spPr>
        <p:txBody>
          <a:bodyPr wrap="square" rtlCol="0" anchor="ctr"/>
          <a:lstStyle/>
          <a:p>
            <a:pPr marL="0" indent="0">
              <a:buNone/>
            </a:pPr>
            <a:r>
              <a:rPr lang="en-US" sz="1400" i="1" dirty="0">
                <a:solidFill>
                  <a:srgbClr val="2C3E5A"/>
                </a:solidFill>
                <a:latin typeface="Calibri" pitchFamily="34" charset="0"/>
                <a:ea typeface="Calibri" pitchFamily="34" charset="-122"/>
                <a:cs typeface="Calibri" pitchFamily="34" charset="-120"/>
              </a:rPr>
              <a:t>Dataset is split into training and testing sets to evaluate model performance using standard regression metrics, ensuring robust learning without overfitting.</a:t>
            </a:r>
            <a:endParaRPr lang="en-US" sz="1400" dirty="0"/>
          </a:p>
        </p:txBody>
      </p:sp>
      <p:sp>
        <p:nvSpPr>
          <p:cNvPr id="8" name="Shape 6"/>
          <p:cNvSpPr/>
          <p:nvPr/>
        </p:nvSpPr>
        <p:spPr>
          <a:xfrm>
            <a:off x="320040" y="1728216"/>
            <a:ext cx="329184" cy="329184"/>
          </a:xfrm>
          <a:prstGeom prst="rect">
            <a:avLst/>
          </a:prstGeom>
          <a:solidFill>
            <a:srgbClr val="C9A84C"/>
          </a:solidFill>
          <a:ln w="12700">
            <a:solidFill>
              <a:srgbClr val="C9A84C"/>
            </a:solidFill>
            <a:prstDash val="solid"/>
          </a:ln>
        </p:spPr>
      </p:sp>
      <p:sp>
        <p:nvSpPr>
          <p:cNvPr id="9" name="Text 7"/>
          <p:cNvSpPr/>
          <p:nvPr/>
        </p:nvSpPr>
        <p:spPr>
          <a:xfrm>
            <a:off x="320040" y="1728216"/>
            <a:ext cx="329184" cy="329184"/>
          </a:xfrm>
          <a:prstGeom prst="rect">
            <a:avLst/>
          </a:prstGeom>
          <a:noFill/>
          <a:ln/>
        </p:spPr>
        <p:txBody>
          <a:bodyPr wrap="square" lIns="0" tIns="0" rIns="0" bIns="0" rtlCol="0" anchor="ctr"/>
          <a:lstStyle/>
          <a:p>
            <a:pPr marL="0" indent="0" algn="ctr">
              <a:buNone/>
            </a:pPr>
            <a:r>
              <a:rPr lang="en-US" sz="1300" b="1" dirty="0">
                <a:solidFill>
                  <a:srgbClr val="1C2B4A"/>
                </a:solidFill>
                <a:latin typeface="Georgia" pitchFamily="34" charset="0"/>
                <a:ea typeface="Georgia" pitchFamily="34" charset="-122"/>
                <a:cs typeface="Georgia" pitchFamily="34" charset="-120"/>
              </a:rPr>
              <a:t>1</a:t>
            </a:r>
            <a:endParaRPr lang="en-US" sz="1300" dirty="0"/>
          </a:p>
        </p:txBody>
      </p:sp>
      <p:sp>
        <p:nvSpPr>
          <p:cNvPr id="10" name="Text 8"/>
          <p:cNvSpPr/>
          <p:nvPr/>
        </p:nvSpPr>
        <p:spPr>
          <a:xfrm>
            <a:off x="777240" y="1591056"/>
            <a:ext cx="8001000" cy="54864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Load and prepare the preprocessed dataset containing all relevant features and the target variable (</a:t>
            </a:r>
            <a:r>
              <a:rPr lang="en-US" sz="1400" dirty="0" err="1">
                <a:solidFill>
                  <a:srgbClr val="2C3E5A"/>
                </a:solidFill>
                <a:latin typeface="Calibri" pitchFamily="34" charset="0"/>
                <a:ea typeface="Calibri" pitchFamily="34" charset="-122"/>
                <a:cs typeface="Calibri" pitchFamily="34" charset="-120"/>
              </a:rPr>
              <a:t>future_land_price_per_sqft_inr</a:t>
            </a:r>
            <a:r>
              <a:rPr lang="en-US" sz="1400" dirty="0">
                <a:solidFill>
                  <a:srgbClr val="2C3E5A"/>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320040" y="2478024"/>
            <a:ext cx="329184" cy="329184"/>
          </a:xfrm>
          <a:prstGeom prst="rect">
            <a:avLst/>
          </a:prstGeom>
          <a:solidFill>
            <a:srgbClr val="C9A84C"/>
          </a:solidFill>
          <a:ln w="12700">
            <a:solidFill>
              <a:srgbClr val="C9A84C"/>
            </a:solidFill>
            <a:prstDash val="solid"/>
          </a:ln>
        </p:spPr>
      </p:sp>
      <p:sp>
        <p:nvSpPr>
          <p:cNvPr id="12" name="Text 10"/>
          <p:cNvSpPr/>
          <p:nvPr/>
        </p:nvSpPr>
        <p:spPr>
          <a:xfrm>
            <a:off x="320040" y="2478024"/>
            <a:ext cx="329184" cy="329184"/>
          </a:xfrm>
          <a:prstGeom prst="rect">
            <a:avLst/>
          </a:prstGeom>
          <a:noFill/>
          <a:ln/>
        </p:spPr>
        <p:txBody>
          <a:bodyPr wrap="square" lIns="0" tIns="0" rIns="0" bIns="0" rtlCol="0" anchor="ctr"/>
          <a:lstStyle/>
          <a:p>
            <a:pPr marL="0" indent="0" algn="ctr">
              <a:buNone/>
            </a:pPr>
            <a:r>
              <a:rPr lang="en-US" sz="1300" b="1" dirty="0">
                <a:solidFill>
                  <a:srgbClr val="1C2B4A"/>
                </a:solidFill>
                <a:latin typeface="Georgia" pitchFamily="34" charset="0"/>
                <a:ea typeface="Georgia" pitchFamily="34" charset="-122"/>
                <a:cs typeface="Georgia" pitchFamily="34" charset="-120"/>
              </a:rPr>
              <a:t>2</a:t>
            </a:r>
            <a:endParaRPr lang="en-US" sz="1300" dirty="0"/>
          </a:p>
        </p:txBody>
      </p:sp>
      <p:sp>
        <p:nvSpPr>
          <p:cNvPr id="13" name="Text 11"/>
          <p:cNvSpPr/>
          <p:nvPr/>
        </p:nvSpPr>
        <p:spPr>
          <a:xfrm>
            <a:off x="822960" y="2441448"/>
            <a:ext cx="8001000" cy="54864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Apply data preprocessing: handle missing values, encode categorical variables using Ordinal Encoding, and scale numerical features.</a:t>
            </a:r>
            <a:endParaRPr lang="en-US" sz="1400" dirty="0"/>
          </a:p>
        </p:txBody>
      </p:sp>
      <p:sp>
        <p:nvSpPr>
          <p:cNvPr id="14" name="Shape 12"/>
          <p:cNvSpPr/>
          <p:nvPr/>
        </p:nvSpPr>
        <p:spPr>
          <a:xfrm>
            <a:off x="320040" y="3227832"/>
            <a:ext cx="329184" cy="329184"/>
          </a:xfrm>
          <a:prstGeom prst="rect">
            <a:avLst/>
          </a:prstGeom>
          <a:solidFill>
            <a:srgbClr val="C9A84C"/>
          </a:solidFill>
          <a:ln w="12700">
            <a:solidFill>
              <a:srgbClr val="C9A84C"/>
            </a:solidFill>
            <a:prstDash val="solid"/>
          </a:ln>
        </p:spPr>
      </p:sp>
      <p:sp>
        <p:nvSpPr>
          <p:cNvPr id="15" name="Text 13"/>
          <p:cNvSpPr/>
          <p:nvPr/>
        </p:nvSpPr>
        <p:spPr>
          <a:xfrm>
            <a:off x="320040" y="3227832"/>
            <a:ext cx="329184" cy="329184"/>
          </a:xfrm>
          <a:prstGeom prst="rect">
            <a:avLst/>
          </a:prstGeom>
          <a:noFill/>
          <a:ln/>
        </p:spPr>
        <p:txBody>
          <a:bodyPr wrap="square" lIns="0" tIns="0" rIns="0" bIns="0" rtlCol="0" anchor="ctr"/>
          <a:lstStyle/>
          <a:p>
            <a:pPr marL="0" indent="0" algn="ctr">
              <a:buNone/>
            </a:pPr>
            <a:r>
              <a:rPr lang="en-US" sz="1300" b="1" dirty="0">
                <a:solidFill>
                  <a:srgbClr val="1C2B4A"/>
                </a:solidFill>
                <a:latin typeface="Georgia" pitchFamily="34" charset="0"/>
                <a:ea typeface="Georgia" pitchFamily="34" charset="-122"/>
                <a:cs typeface="Georgia" pitchFamily="34" charset="-120"/>
              </a:rPr>
              <a:t>3</a:t>
            </a:r>
            <a:endParaRPr lang="en-US" sz="1300" dirty="0"/>
          </a:p>
        </p:txBody>
      </p:sp>
      <p:sp>
        <p:nvSpPr>
          <p:cNvPr id="16" name="Text 14"/>
          <p:cNvSpPr/>
          <p:nvPr/>
        </p:nvSpPr>
        <p:spPr>
          <a:xfrm>
            <a:off x="822960" y="3191256"/>
            <a:ext cx="8001000" cy="54864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Train models using training data. Evaluate using test data with MAE, RMSE, and R² Score.</a:t>
            </a:r>
            <a:endParaRPr lang="en-US" sz="1400" dirty="0"/>
          </a:p>
        </p:txBody>
      </p:sp>
      <p:sp>
        <p:nvSpPr>
          <p:cNvPr id="17" name="Shape 15"/>
          <p:cNvSpPr/>
          <p:nvPr/>
        </p:nvSpPr>
        <p:spPr>
          <a:xfrm>
            <a:off x="320040" y="3977640"/>
            <a:ext cx="329184" cy="329184"/>
          </a:xfrm>
          <a:prstGeom prst="rect">
            <a:avLst/>
          </a:prstGeom>
          <a:solidFill>
            <a:srgbClr val="C9A84C"/>
          </a:solidFill>
          <a:ln w="12700">
            <a:solidFill>
              <a:srgbClr val="C9A84C"/>
            </a:solidFill>
            <a:prstDash val="solid"/>
          </a:ln>
        </p:spPr>
      </p:sp>
      <p:sp>
        <p:nvSpPr>
          <p:cNvPr id="18" name="Text 16"/>
          <p:cNvSpPr/>
          <p:nvPr/>
        </p:nvSpPr>
        <p:spPr>
          <a:xfrm>
            <a:off x="320040" y="3977640"/>
            <a:ext cx="329184" cy="329184"/>
          </a:xfrm>
          <a:prstGeom prst="rect">
            <a:avLst/>
          </a:prstGeom>
          <a:noFill/>
          <a:ln/>
        </p:spPr>
        <p:txBody>
          <a:bodyPr wrap="square" lIns="0" tIns="0" rIns="0" bIns="0" rtlCol="0" anchor="ctr"/>
          <a:lstStyle/>
          <a:p>
            <a:pPr marL="0" indent="0" algn="ctr">
              <a:buNone/>
            </a:pPr>
            <a:r>
              <a:rPr lang="en-US" sz="1300" b="1" dirty="0">
                <a:solidFill>
                  <a:srgbClr val="1C2B4A"/>
                </a:solidFill>
                <a:latin typeface="Georgia" pitchFamily="34" charset="0"/>
                <a:ea typeface="Georgia" pitchFamily="34" charset="-122"/>
                <a:cs typeface="Georgia" pitchFamily="34" charset="-120"/>
              </a:rPr>
              <a:t>4</a:t>
            </a:r>
            <a:endParaRPr lang="en-US" sz="1300" dirty="0"/>
          </a:p>
        </p:txBody>
      </p:sp>
      <p:sp>
        <p:nvSpPr>
          <p:cNvPr id="19" name="Text 17"/>
          <p:cNvSpPr/>
          <p:nvPr/>
        </p:nvSpPr>
        <p:spPr>
          <a:xfrm>
            <a:off x="822960" y="3941064"/>
            <a:ext cx="8001000" cy="54864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Save the final best-performing model in .pkl format for deployment.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Accuracy &amp; Explainability</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Text 5"/>
          <p:cNvSpPr/>
          <p:nvPr/>
        </p:nvSpPr>
        <p:spPr>
          <a:xfrm>
            <a:off x="457200" y="1024128"/>
            <a:ext cx="8229600" cy="475488"/>
          </a:xfrm>
          <a:prstGeom prst="rect">
            <a:avLst/>
          </a:prstGeom>
          <a:noFill/>
          <a:ln/>
        </p:spPr>
        <p:txBody>
          <a:bodyPr wrap="square" rtlCol="0" anchor="ctr"/>
          <a:lstStyle/>
          <a:p>
            <a:pPr marL="0" indent="0">
              <a:buNone/>
            </a:pPr>
            <a:r>
              <a:rPr lang="en-US" sz="1400" i="1" dirty="0">
                <a:solidFill>
                  <a:srgbClr val="2C3E5A"/>
                </a:solidFill>
                <a:latin typeface="Calibri" pitchFamily="34" charset="0"/>
                <a:ea typeface="Calibri" pitchFamily="34" charset="-122"/>
                <a:cs typeface="Calibri" pitchFamily="34" charset="-120"/>
              </a:rPr>
              <a:t>The primary goal is to achieve high prediction accuracy while maintaining model interpretability, allowing for transparent land price scoring decisions.</a:t>
            </a:r>
            <a:endParaRPr lang="en-US" sz="1400" dirty="0"/>
          </a:p>
        </p:txBody>
      </p:sp>
      <p:sp>
        <p:nvSpPr>
          <p:cNvPr id="8" name="Shape 6"/>
          <p:cNvSpPr/>
          <p:nvPr/>
        </p:nvSpPr>
        <p:spPr>
          <a:xfrm>
            <a:off x="320040" y="1645920"/>
            <a:ext cx="2606040" cy="2286000"/>
          </a:xfrm>
          <a:prstGeom prst="rect">
            <a:avLst/>
          </a:prstGeom>
          <a:solidFill>
            <a:srgbClr val="FFFFFF"/>
          </a:solidFill>
          <a:ln w="12700">
            <a:solidFill>
              <a:srgbClr val="1C2B4A"/>
            </a:solidFill>
            <a:prstDash val="solid"/>
          </a:ln>
        </p:spPr>
      </p:sp>
      <p:sp>
        <p:nvSpPr>
          <p:cNvPr id="9" name="Shape 7"/>
          <p:cNvSpPr/>
          <p:nvPr/>
        </p:nvSpPr>
        <p:spPr>
          <a:xfrm>
            <a:off x="320040" y="1645920"/>
            <a:ext cx="2606040" cy="640080"/>
          </a:xfrm>
          <a:prstGeom prst="rect">
            <a:avLst/>
          </a:prstGeom>
          <a:solidFill>
            <a:srgbClr val="1C2B4A"/>
          </a:solidFill>
          <a:ln w="12700">
            <a:solidFill>
              <a:srgbClr val="1C2B4A"/>
            </a:solidFill>
            <a:prstDash val="solid"/>
          </a:ln>
        </p:spPr>
      </p:sp>
      <p:sp>
        <p:nvSpPr>
          <p:cNvPr id="10" name="Text 8"/>
          <p:cNvSpPr/>
          <p:nvPr/>
        </p:nvSpPr>
        <p:spPr>
          <a:xfrm>
            <a:off x="320040" y="1645920"/>
            <a:ext cx="2606040" cy="640080"/>
          </a:xfrm>
          <a:prstGeom prst="rect">
            <a:avLst/>
          </a:prstGeom>
          <a:noFill/>
          <a:ln/>
        </p:spPr>
        <p:txBody>
          <a:bodyPr wrap="square" lIns="0" tIns="0" rIns="0" bIns="0" rtlCol="0" anchor="ctr"/>
          <a:lstStyle/>
          <a:p>
            <a:pPr marL="0" indent="0" algn="ctr">
              <a:buNone/>
            </a:pPr>
            <a:r>
              <a:rPr lang="en-US" sz="2000" b="1" dirty="0">
                <a:solidFill>
                  <a:srgbClr val="C9A84C"/>
                </a:solidFill>
                <a:latin typeface="Georgia" pitchFamily="34" charset="0"/>
                <a:ea typeface="Georgia" pitchFamily="34" charset="-122"/>
                <a:cs typeface="Georgia" pitchFamily="34" charset="-120"/>
              </a:rPr>
              <a:t>MAE</a:t>
            </a:r>
            <a:endParaRPr lang="en-US" sz="2000" dirty="0"/>
          </a:p>
        </p:txBody>
      </p:sp>
      <p:sp>
        <p:nvSpPr>
          <p:cNvPr id="11" name="Text 9"/>
          <p:cNvSpPr/>
          <p:nvPr/>
        </p:nvSpPr>
        <p:spPr>
          <a:xfrm>
            <a:off x="429768" y="2377440"/>
            <a:ext cx="2377440" cy="411480"/>
          </a:xfrm>
          <a:prstGeom prst="rect">
            <a:avLst/>
          </a:prstGeom>
          <a:noFill/>
          <a:ln/>
        </p:spPr>
        <p:txBody>
          <a:bodyPr wrap="square" rtlCol="0" anchor="ctr"/>
          <a:lstStyle/>
          <a:p>
            <a:pPr marL="0" indent="0" algn="ctr">
              <a:buNone/>
            </a:pPr>
            <a:r>
              <a:rPr lang="en-US" sz="1100" b="1" dirty="0">
                <a:solidFill>
                  <a:srgbClr val="1C2B4A"/>
                </a:solidFill>
                <a:latin typeface="Georgia" pitchFamily="34" charset="0"/>
                <a:ea typeface="Georgia" pitchFamily="34" charset="-122"/>
                <a:cs typeface="Georgia" pitchFamily="34" charset="-120"/>
              </a:rPr>
              <a:t>Mean Absolute Error</a:t>
            </a:r>
            <a:endParaRPr lang="en-US" sz="1100" dirty="0"/>
          </a:p>
        </p:txBody>
      </p:sp>
      <p:sp>
        <p:nvSpPr>
          <p:cNvPr id="12" name="Text 10"/>
          <p:cNvSpPr/>
          <p:nvPr/>
        </p:nvSpPr>
        <p:spPr>
          <a:xfrm>
            <a:off x="429768" y="2834640"/>
            <a:ext cx="2377440" cy="960120"/>
          </a:xfrm>
          <a:prstGeom prst="rect">
            <a:avLst/>
          </a:prstGeom>
          <a:noFill/>
          <a:ln/>
        </p:spPr>
        <p:txBody>
          <a:bodyPr wrap="square" rtlCol="0" anchor="ctr"/>
          <a:lstStyle/>
          <a:p>
            <a:pPr marL="0" indent="0" algn="ctr">
              <a:buNone/>
            </a:pPr>
            <a:r>
              <a:rPr lang="en-US" sz="1400" dirty="0">
                <a:solidFill>
                  <a:srgbClr val="2C3E5A"/>
                </a:solidFill>
                <a:latin typeface="Calibri" pitchFamily="34" charset="0"/>
                <a:ea typeface="Calibri" pitchFamily="34" charset="-122"/>
                <a:cs typeface="Calibri" pitchFamily="34" charset="-120"/>
              </a:rPr>
              <a:t>Average prediction deviation across all test samples.</a:t>
            </a:r>
            <a:endParaRPr lang="en-US" sz="1400" dirty="0"/>
          </a:p>
        </p:txBody>
      </p:sp>
      <p:sp>
        <p:nvSpPr>
          <p:cNvPr id="13" name="Shape 11"/>
          <p:cNvSpPr/>
          <p:nvPr/>
        </p:nvSpPr>
        <p:spPr>
          <a:xfrm>
            <a:off x="3154680" y="1645920"/>
            <a:ext cx="2606040" cy="2286000"/>
          </a:xfrm>
          <a:prstGeom prst="rect">
            <a:avLst/>
          </a:prstGeom>
          <a:solidFill>
            <a:srgbClr val="FFFFFF"/>
          </a:solidFill>
          <a:ln w="12700">
            <a:solidFill>
              <a:srgbClr val="1C2B4A"/>
            </a:solidFill>
            <a:prstDash val="solid"/>
          </a:ln>
        </p:spPr>
      </p:sp>
      <p:sp>
        <p:nvSpPr>
          <p:cNvPr id="14" name="Shape 12"/>
          <p:cNvSpPr/>
          <p:nvPr/>
        </p:nvSpPr>
        <p:spPr>
          <a:xfrm>
            <a:off x="3154680" y="1645920"/>
            <a:ext cx="2606040" cy="640080"/>
          </a:xfrm>
          <a:prstGeom prst="rect">
            <a:avLst/>
          </a:prstGeom>
          <a:solidFill>
            <a:srgbClr val="1C2B4A"/>
          </a:solidFill>
          <a:ln w="12700">
            <a:solidFill>
              <a:srgbClr val="1C2B4A"/>
            </a:solidFill>
            <a:prstDash val="solid"/>
          </a:ln>
        </p:spPr>
      </p:sp>
      <p:sp>
        <p:nvSpPr>
          <p:cNvPr id="15" name="Text 13"/>
          <p:cNvSpPr/>
          <p:nvPr/>
        </p:nvSpPr>
        <p:spPr>
          <a:xfrm>
            <a:off x="3154680" y="1645920"/>
            <a:ext cx="2606040" cy="640080"/>
          </a:xfrm>
          <a:prstGeom prst="rect">
            <a:avLst/>
          </a:prstGeom>
          <a:noFill/>
          <a:ln/>
        </p:spPr>
        <p:txBody>
          <a:bodyPr wrap="square" lIns="0" tIns="0" rIns="0" bIns="0" rtlCol="0" anchor="ctr"/>
          <a:lstStyle/>
          <a:p>
            <a:pPr marL="0" indent="0" algn="ctr">
              <a:buNone/>
            </a:pPr>
            <a:r>
              <a:rPr lang="en-US" sz="2000" b="1" dirty="0">
                <a:solidFill>
                  <a:srgbClr val="C9A84C"/>
                </a:solidFill>
                <a:latin typeface="Georgia" pitchFamily="34" charset="0"/>
                <a:ea typeface="Georgia" pitchFamily="34" charset="-122"/>
                <a:cs typeface="Georgia" pitchFamily="34" charset="-120"/>
              </a:rPr>
              <a:t>RMSE</a:t>
            </a:r>
            <a:endParaRPr lang="en-US" sz="2000" dirty="0"/>
          </a:p>
        </p:txBody>
      </p:sp>
      <p:sp>
        <p:nvSpPr>
          <p:cNvPr id="16" name="Text 14"/>
          <p:cNvSpPr/>
          <p:nvPr/>
        </p:nvSpPr>
        <p:spPr>
          <a:xfrm>
            <a:off x="3264408" y="2377440"/>
            <a:ext cx="2377440" cy="411480"/>
          </a:xfrm>
          <a:prstGeom prst="rect">
            <a:avLst/>
          </a:prstGeom>
          <a:noFill/>
          <a:ln/>
        </p:spPr>
        <p:txBody>
          <a:bodyPr wrap="square" rtlCol="0" anchor="ctr"/>
          <a:lstStyle/>
          <a:p>
            <a:pPr marL="0" indent="0" algn="ctr">
              <a:buNone/>
            </a:pPr>
            <a:r>
              <a:rPr lang="en-US" sz="1100" b="1" dirty="0">
                <a:solidFill>
                  <a:srgbClr val="1C2B4A"/>
                </a:solidFill>
                <a:latin typeface="Georgia" pitchFamily="34" charset="0"/>
                <a:ea typeface="Georgia" pitchFamily="34" charset="-122"/>
                <a:cs typeface="Georgia" pitchFamily="34" charset="-120"/>
              </a:rPr>
              <a:t>Root Mean Squared Error</a:t>
            </a:r>
            <a:endParaRPr lang="en-US" sz="1100" dirty="0"/>
          </a:p>
        </p:txBody>
      </p:sp>
      <p:sp>
        <p:nvSpPr>
          <p:cNvPr id="17" name="Text 15"/>
          <p:cNvSpPr/>
          <p:nvPr/>
        </p:nvSpPr>
        <p:spPr>
          <a:xfrm>
            <a:off x="3264408" y="2834640"/>
            <a:ext cx="2377440" cy="960120"/>
          </a:xfrm>
          <a:prstGeom prst="rect">
            <a:avLst/>
          </a:prstGeom>
          <a:noFill/>
          <a:ln/>
        </p:spPr>
        <p:txBody>
          <a:bodyPr wrap="square" rtlCol="0" anchor="ctr"/>
          <a:lstStyle/>
          <a:p>
            <a:pPr marL="0" indent="0" algn="ctr">
              <a:buNone/>
            </a:pPr>
            <a:r>
              <a:rPr lang="en-US" sz="1400" dirty="0">
                <a:solidFill>
                  <a:srgbClr val="2C3E5A"/>
                </a:solidFill>
                <a:latin typeface="Calibri" pitchFamily="34" charset="0"/>
                <a:ea typeface="Calibri" pitchFamily="34" charset="-122"/>
                <a:cs typeface="Calibri" pitchFamily="34" charset="-120"/>
              </a:rPr>
              <a:t>Penalises large errors; higher sensitivity to outliers</a:t>
            </a:r>
            <a:r>
              <a:rPr lang="en-US" sz="1100" dirty="0">
                <a:solidFill>
                  <a:srgbClr val="2C3E5A"/>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5989320" y="1645920"/>
            <a:ext cx="2606040" cy="2286000"/>
          </a:xfrm>
          <a:prstGeom prst="rect">
            <a:avLst/>
          </a:prstGeom>
          <a:solidFill>
            <a:srgbClr val="FFFFFF"/>
          </a:solidFill>
          <a:ln w="12700">
            <a:solidFill>
              <a:srgbClr val="1C2B4A"/>
            </a:solidFill>
            <a:prstDash val="solid"/>
          </a:ln>
        </p:spPr>
      </p:sp>
      <p:sp>
        <p:nvSpPr>
          <p:cNvPr id="19" name="Shape 17"/>
          <p:cNvSpPr/>
          <p:nvPr/>
        </p:nvSpPr>
        <p:spPr>
          <a:xfrm>
            <a:off x="5989320" y="1645920"/>
            <a:ext cx="2606040" cy="640080"/>
          </a:xfrm>
          <a:prstGeom prst="rect">
            <a:avLst/>
          </a:prstGeom>
          <a:solidFill>
            <a:srgbClr val="1C2B4A"/>
          </a:solidFill>
          <a:ln w="12700">
            <a:solidFill>
              <a:srgbClr val="1C2B4A"/>
            </a:solidFill>
            <a:prstDash val="solid"/>
          </a:ln>
        </p:spPr>
      </p:sp>
      <p:sp>
        <p:nvSpPr>
          <p:cNvPr id="20" name="Text 18"/>
          <p:cNvSpPr/>
          <p:nvPr/>
        </p:nvSpPr>
        <p:spPr>
          <a:xfrm>
            <a:off x="5989320" y="1645920"/>
            <a:ext cx="2606040" cy="640080"/>
          </a:xfrm>
          <a:prstGeom prst="rect">
            <a:avLst/>
          </a:prstGeom>
          <a:noFill/>
          <a:ln/>
        </p:spPr>
        <p:txBody>
          <a:bodyPr wrap="square" lIns="0" tIns="0" rIns="0" bIns="0" rtlCol="0" anchor="ctr"/>
          <a:lstStyle/>
          <a:p>
            <a:pPr marL="0" indent="0" algn="ctr">
              <a:buNone/>
            </a:pPr>
            <a:r>
              <a:rPr lang="en-US" sz="2000" b="1" dirty="0">
                <a:solidFill>
                  <a:srgbClr val="C9A84C"/>
                </a:solidFill>
                <a:latin typeface="Georgia" pitchFamily="34" charset="0"/>
                <a:ea typeface="Georgia" pitchFamily="34" charset="-122"/>
                <a:cs typeface="Georgia" pitchFamily="34" charset="-120"/>
              </a:rPr>
              <a:t>R²</a:t>
            </a:r>
            <a:endParaRPr lang="en-US" sz="2000" dirty="0"/>
          </a:p>
        </p:txBody>
      </p:sp>
      <p:sp>
        <p:nvSpPr>
          <p:cNvPr id="21" name="Text 19"/>
          <p:cNvSpPr/>
          <p:nvPr/>
        </p:nvSpPr>
        <p:spPr>
          <a:xfrm>
            <a:off x="6099048" y="2377440"/>
            <a:ext cx="2377440" cy="411480"/>
          </a:xfrm>
          <a:prstGeom prst="rect">
            <a:avLst/>
          </a:prstGeom>
          <a:noFill/>
          <a:ln/>
        </p:spPr>
        <p:txBody>
          <a:bodyPr wrap="square" rtlCol="0" anchor="ctr"/>
          <a:lstStyle/>
          <a:p>
            <a:pPr marL="0" indent="0" algn="ctr">
              <a:buNone/>
            </a:pPr>
            <a:r>
              <a:rPr lang="en-US" sz="1100" b="1" dirty="0">
                <a:solidFill>
                  <a:srgbClr val="1C2B4A"/>
                </a:solidFill>
                <a:latin typeface="Georgia" pitchFamily="34" charset="0"/>
                <a:ea typeface="Georgia" pitchFamily="34" charset="-122"/>
                <a:cs typeface="Georgia" pitchFamily="34" charset="-120"/>
              </a:rPr>
              <a:t>Coefficient of Determination</a:t>
            </a:r>
            <a:endParaRPr lang="en-US" sz="1100" dirty="0"/>
          </a:p>
        </p:txBody>
      </p:sp>
      <p:sp>
        <p:nvSpPr>
          <p:cNvPr id="22" name="Text 20"/>
          <p:cNvSpPr/>
          <p:nvPr/>
        </p:nvSpPr>
        <p:spPr>
          <a:xfrm>
            <a:off x="6099048" y="2834640"/>
            <a:ext cx="2377440" cy="960120"/>
          </a:xfrm>
          <a:prstGeom prst="rect">
            <a:avLst/>
          </a:prstGeom>
          <a:noFill/>
          <a:ln/>
        </p:spPr>
        <p:txBody>
          <a:bodyPr wrap="square" rtlCol="0" anchor="ctr"/>
          <a:lstStyle/>
          <a:p>
            <a:pPr marL="0" indent="0" algn="ctr">
              <a:buNone/>
            </a:pPr>
            <a:r>
              <a:rPr lang="en-US" sz="1400" dirty="0">
                <a:solidFill>
                  <a:srgbClr val="2C3E5A"/>
                </a:solidFill>
                <a:latin typeface="Calibri" pitchFamily="34" charset="0"/>
                <a:ea typeface="Calibri" pitchFamily="34" charset="-122"/>
                <a:cs typeface="Calibri" pitchFamily="34" charset="-120"/>
              </a:rPr>
              <a:t>Variance explained by model; closer to 1.0 is better.</a:t>
            </a:r>
            <a:endParaRPr lang="en-US" sz="1400" dirty="0"/>
          </a:p>
        </p:txBody>
      </p:sp>
      <p:sp>
        <p:nvSpPr>
          <p:cNvPr id="23" name="Text 21"/>
          <p:cNvSpPr/>
          <p:nvPr/>
        </p:nvSpPr>
        <p:spPr>
          <a:xfrm>
            <a:off x="457200" y="4160520"/>
            <a:ext cx="8229600" cy="594360"/>
          </a:xfrm>
          <a:prstGeom prst="rect">
            <a:avLst/>
          </a:prstGeom>
          <a:noFill/>
          <a:ln/>
        </p:spPr>
        <p:txBody>
          <a:bodyPr wrap="square" rtlCol="0" anchor="ctr"/>
          <a:lstStyle/>
          <a:p>
            <a:pPr marL="0" indent="0">
              <a:buNone/>
            </a:pPr>
            <a:r>
              <a:rPr lang="en-US" sz="1400" i="1" dirty="0">
                <a:solidFill>
                  <a:srgbClr val="2C3E5A"/>
                </a:solidFill>
                <a:latin typeface="Calibri" pitchFamily="34" charset="0"/>
                <a:ea typeface="Calibri" pitchFamily="34" charset="-122"/>
                <a:cs typeface="Calibri" pitchFamily="34" charset="-120"/>
              </a:rPr>
              <a:t>Feature importance from random forest reveals which attributes (city proximity, infrastructure, population growth) most drive land prices.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Prediction Pipeline</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Shape 5"/>
          <p:cNvSpPr/>
          <p:nvPr/>
        </p:nvSpPr>
        <p:spPr>
          <a:xfrm>
            <a:off x="384048" y="1097280"/>
            <a:ext cx="1463040" cy="2560320"/>
          </a:xfrm>
          <a:prstGeom prst="rect">
            <a:avLst/>
          </a:prstGeom>
          <a:solidFill>
            <a:srgbClr val="FFFFFF"/>
          </a:solidFill>
          <a:ln w="12700">
            <a:solidFill>
              <a:srgbClr val="1C2B4A"/>
            </a:solidFill>
            <a:prstDash val="solid"/>
          </a:ln>
        </p:spPr>
      </p:sp>
      <p:sp>
        <p:nvSpPr>
          <p:cNvPr id="8" name="Shape 6"/>
          <p:cNvSpPr/>
          <p:nvPr/>
        </p:nvSpPr>
        <p:spPr>
          <a:xfrm>
            <a:off x="365760" y="1097280"/>
            <a:ext cx="1463040" cy="411480"/>
          </a:xfrm>
          <a:prstGeom prst="rect">
            <a:avLst/>
          </a:prstGeom>
          <a:solidFill>
            <a:srgbClr val="2E4272"/>
          </a:solidFill>
          <a:ln w="12700">
            <a:solidFill>
              <a:srgbClr val="2E4272"/>
            </a:solidFill>
            <a:prstDash val="solid"/>
          </a:ln>
        </p:spPr>
      </p:sp>
      <p:sp>
        <p:nvSpPr>
          <p:cNvPr id="9" name="Text 7"/>
          <p:cNvSpPr/>
          <p:nvPr/>
        </p:nvSpPr>
        <p:spPr>
          <a:xfrm>
            <a:off x="365760" y="109728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Create Input</a:t>
            </a:r>
            <a:endParaRPr lang="en-US" sz="1000" dirty="0"/>
          </a:p>
          <a:p>
            <a:pPr marL="0" indent="0" algn="ctr">
              <a:buNone/>
            </a:pPr>
            <a:r>
              <a:rPr lang="en-US" sz="1000" b="1" dirty="0">
                <a:solidFill>
                  <a:srgbClr val="FFFFFF"/>
                </a:solidFill>
                <a:latin typeface="Georgia" pitchFamily="34" charset="0"/>
                <a:ea typeface="Georgia" pitchFamily="34" charset="-122"/>
                <a:cs typeface="Georgia" pitchFamily="34" charset="-120"/>
              </a:rPr>
              <a:t>Data Frame</a:t>
            </a:r>
            <a:endParaRPr lang="en-US" sz="1000" dirty="0"/>
          </a:p>
        </p:txBody>
      </p:sp>
      <p:sp>
        <p:nvSpPr>
          <p:cNvPr id="10" name="Text 8"/>
          <p:cNvSpPr/>
          <p:nvPr/>
        </p:nvSpPr>
        <p:spPr>
          <a:xfrm>
            <a:off x="365760" y="1600200"/>
            <a:ext cx="1463040" cy="1965960"/>
          </a:xfrm>
          <a:prstGeom prst="rect">
            <a:avLst/>
          </a:prstGeom>
          <a:noFill/>
          <a:ln/>
        </p:spPr>
        <p:txBody>
          <a:bodyPr wrap="square" rtlCol="0" anchor="t"/>
          <a:lstStyle/>
          <a:p>
            <a:pPr marL="0" indent="0" algn="ctr">
              <a:buNone/>
            </a:pPr>
            <a:r>
              <a:rPr lang="en-US" sz="1400" dirty="0">
                <a:solidFill>
                  <a:srgbClr val="2C3E5A"/>
                </a:solidFill>
                <a:ea typeface="Calibri" pitchFamily="34" charset="-122"/>
                <a:cs typeface="Calibri" pitchFamily="34" charset="-120"/>
              </a:rPr>
              <a:t>Map form fields,</a:t>
            </a:r>
            <a:endParaRPr lang="en-US" sz="1400" dirty="0"/>
          </a:p>
          <a:p>
            <a:pPr marL="0" indent="0" algn="ctr">
              <a:buNone/>
            </a:pPr>
            <a:r>
              <a:rPr lang="en-US" sz="1400" dirty="0">
                <a:solidFill>
                  <a:srgbClr val="2C3E5A"/>
                </a:solidFill>
                <a:ea typeface="Calibri" pitchFamily="34" charset="-122"/>
                <a:cs typeface="Calibri" pitchFamily="34" charset="-120"/>
              </a:rPr>
              <a:t>set datatypes,</a:t>
            </a:r>
            <a:endParaRPr lang="en-US" sz="1400" dirty="0"/>
          </a:p>
          <a:p>
            <a:pPr marL="0" indent="0" algn="ctr">
              <a:buNone/>
            </a:pPr>
            <a:r>
              <a:rPr lang="en-US" sz="1400" dirty="0">
                <a:solidFill>
                  <a:srgbClr val="2C3E5A"/>
                </a:solidFill>
                <a:ea typeface="Calibri" pitchFamily="34" charset="-122"/>
                <a:cs typeface="Calibri" pitchFamily="34" charset="-120"/>
              </a:rPr>
              <a:t>initial validation</a:t>
            </a:r>
            <a:endParaRPr lang="en-US" sz="1400" dirty="0"/>
          </a:p>
        </p:txBody>
      </p:sp>
      <p:sp>
        <p:nvSpPr>
          <p:cNvPr id="11" name="Shape 9"/>
          <p:cNvSpPr/>
          <p:nvPr/>
        </p:nvSpPr>
        <p:spPr>
          <a:xfrm>
            <a:off x="1847088" y="2377440"/>
            <a:ext cx="246888" cy="0"/>
          </a:xfrm>
          <a:prstGeom prst="line">
            <a:avLst/>
          </a:prstGeom>
          <a:noFill/>
          <a:ln w="31750">
            <a:solidFill>
              <a:srgbClr val="C9A84C"/>
            </a:solidFill>
            <a:prstDash val="solid"/>
          </a:ln>
        </p:spPr>
      </p:sp>
      <p:sp>
        <p:nvSpPr>
          <p:cNvPr id="12" name="Shape 10"/>
          <p:cNvSpPr/>
          <p:nvPr/>
        </p:nvSpPr>
        <p:spPr>
          <a:xfrm>
            <a:off x="2057400" y="1097280"/>
            <a:ext cx="1463040" cy="2560320"/>
          </a:xfrm>
          <a:prstGeom prst="rect">
            <a:avLst/>
          </a:prstGeom>
          <a:solidFill>
            <a:srgbClr val="FFFFFF"/>
          </a:solidFill>
          <a:ln w="12700">
            <a:solidFill>
              <a:srgbClr val="1C2B4A"/>
            </a:solidFill>
            <a:prstDash val="solid"/>
          </a:ln>
        </p:spPr>
      </p:sp>
      <p:sp>
        <p:nvSpPr>
          <p:cNvPr id="13" name="Shape 11"/>
          <p:cNvSpPr/>
          <p:nvPr/>
        </p:nvSpPr>
        <p:spPr>
          <a:xfrm>
            <a:off x="2057400" y="1097280"/>
            <a:ext cx="1463040" cy="411480"/>
          </a:xfrm>
          <a:prstGeom prst="rect">
            <a:avLst/>
          </a:prstGeom>
          <a:solidFill>
            <a:srgbClr val="2E4272"/>
          </a:solidFill>
          <a:ln w="12700">
            <a:solidFill>
              <a:srgbClr val="2E4272"/>
            </a:solidFill>
            <a:prstDash val="solid"/>
          </a:ln>
        </p:spPr>
      </p:sp>
      <p:sp>
        <p:nvSpPr>
          <p:cNvPr id="14" name="Text 12"/>
          <p:cNvSpPr/>
          <p:nvPr/>
        </p:nvSpPr>
        <p:spPr>
          <a:xfrm>
            <a:off x="2057400" y="109728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Apply</a:t>
            </a:r>
            <a:endParaRPr lang="en-US" sz="1000" dirty="0"/>
          </a:p>
          <a:p>
            <a:pPr marL="0" indent="0" algn="ctr">
              <a:buNone/>
            </a:pPr>
            <a:r>
              <a:rPr lang="en-US" sz="1000" b="1" dirty="0">
                <a:solidFill>
                  <a:srgbClr val="FFFFFF"/>
                </a:solidFill>
                <a:latin typeface="Georgia" pitchFamily="34" charset="0"/>
                <a:ea typeface="Georgia" pitchFamily="34" charset="-122"/>
                <a:cs typeface="Georgia" pitchFamily="34" charset="-120"/>
              </a:rPr>
              <a:t>Transformation</a:t>
            </a:r>
            <a:endParaRPr lang="en-US" sz="1000" dirty="0"/>
          </a:p>
        </p:txBody>
      </p:sp>
      <p:sp>
        <p:nvSpPr>
          <p:cNvPr id="15" name="Text 13"/>
          <p:cNvSpPr/>
          <p:nvPr/>
        </p:nvSpPr>
        <p:spPr>
          <a:xfrm>
            <a:off x="2057400" y="1600200"/>
            <a:ext cx="1463040" cy="1965960"/>
          </a:xfrm>
          <a:prstGeom prst="rect">
            <a:avLst/>
          </a:prstGeom>
          <a:noFill/>
          <a:ln/>
        </p:spPr>
        <p:txBody>
          <a:bodyPr wrap="square" rtlCol="0" anchor="t"/>
          <a:lstStyle/>
          <a:p>
            <a:pPr marL="0" indent="0" algn="ctr">
              <a:buNone/>
            </a:pPr>
            <a:endParaRPr lang="en-US" sz="1000" dirty="0"/>
          </a:p>
          <a:p>
            <a:pPr marL="0" indent="0" algn="ctr">
              <a:buNone/>
            </a:pPr>
            <a:r>
              <a:rPr lang="en-US" sz="1400" dirty="0">
                <a:solidFill>
                  <a:srgbClr val="2C3E5A"/>
                </a:solidFill>
                <a:latin typeface="Calibri" pitchFamily="34" charset="0"/>
                <a:ea typeface="Calibri" pitchFamily="34" charset="-122"/>
                <a:cs typeface="Calibri" pitchFamily="34" charset="-120"/>
              </a:rPr>
              <a:t>Load Encoder,</a:t>
            </a:r>
          </a:p>
          <a:p>
            <a:pPr marL="0" indent="0" algn="ctr">
              <a:buNone/>
            </a:pPr>
            <a:r>
              <a:rPr lang="en-US" sz="1400" dirty="0">
                <a:solidFill>
                  <a:srgbClr val="2C3E5A"/>
                </a:solidFill>
                <a:latin typeface="Calibri" pitchFamily="34" charset="0"/>
                <a:ea typeface="Calibri" pitchFamily="34" charset="-122"/>
                <a:cs typeface="Calibri" pitchFamily="34" charset="-120"/>
              </a:rPr>
              <a:t>transform values</a:t>
            </a:r>
            <a:endParaRPr lang="en-US" sz="1400" dirty="0"/>
          </a:p>
        </p:txBody>
      </p:sp>
      <p:sp>
        <p:nvSpPr>
          <p:cNvPr id="16" name="Shape 14"/>
          <p:cNvSpPr/>
          <p:nvPr/>
        </p:nvSpPr>
        <p:spPr>
          <a:xfrm>
            <a:off x="3538728" y="2377440"/>
            <a:ext cx="246888" cy="0"/>
          </a:xfrm>
          <a:prstGeom prst="line">
            <a:avLst/>
          </a:prstGeom>
          <a:noFill/>
          <a:ln w="31750">
            <a:solidFill>
              <a:srgbClr val="C9A84C"/>
            </a:solidFill>
            <a:prstDash val="solid"/>
          </a:ln>
        </p:spPr>
      </p:sp>
      <p:sp>
        <p:nvSpPr>
          <p:cNvPr id="17" name="Shape 15"/>
          <p:cNvSpPr/>
          <p:nvPr/>
        </p:nvSpPr>
        <p:spPr>
          <a:xfrm>
            <a:off x="3749040" y="1097280"/>
            <a:ext cx="1463040" cy="2560320"/>
          </a:xfrm>
          <a:prstGeom prst="rect">
            <a:avLst/>
          </a:prstGeom>
          <a:solidFill>
            <a:srgbClr val="FFFFFF"/>
          </a:solidFill>
          <a:ln w="12700">
            <a:solidFill>
              <a:srgbClr val="1C2B4A"/>
            </a:solidFill>
            <a:prstDash val="solid"/>
          </a:ln>
        </p:spPr>
      </p:sp>
      <p:sp>
        <p:nvSpPr>
          <p:cNvPr id="18" name="Shape 16"/>
          <p:cNvSpPr/>
          <p:nvPr/>
        </p:nvSpPr>
        <p:spPr>
          <a:xfrm>
            <a:off x="3749040" y="1097280"/>
            <a:ext cx="1463040" cy="411480"/>
          </a:xfrm>
          <a:prstGeom prst="rect">
            <a:avLst/>
          </a:prstGeom>
          <a:solidFill>
            <a:srgbClr val="2E4272"/>
          </a:solidFill>
          <a:ln w="12700">
            <a:solidFill>
              <a:srgbClr val="2E4272"/>
            </a:solidFill>
            <a:prstDash val="solid"/>
          </a:ln>
        </p:spPr>
      </p:sp>
      <p:sp>
        <p:nvSpPr>
          <p:cNvPr id="19" name="Text 17"/>
          <p:cNvSpPr/>
          <p:nvPr/>
        </p:nvSpPr>
        <p:spPr>
          <a:xfrm>
            <a:off x="3749040" y="109728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Align</a:t>
            </a:r>
            <a:endParaRPr lang="en-US" sz="1000" dirty="0"/>
          </a:p>
          <a:p>
            <a:pPr marL="0" indent="0" algn="ctr">
              <a:buNone/>
            </a:pPr>
            <a:r>
              <a:rPr lang="en-US" sz="1000" b="1" dirty="0">
                <a:solidFill>
                  <a:srgbClr val="FFFFFF"/>
                </a:solidFill>
                <a:latin typeface="Georgia" pitchFamily="34" charset="0"/>
                <a:ea typeface="Georgia" pitchFamily="34" charset="-122"/>
                <a:cs typeface="Georgia" pitchFamily="34" charset="-120"/>
              </a:rPr>
              <a:t>Columns</a:t>
            </a:r>
            <a:endParaRPr lang="en-US" sz="1000" dirty="0"/>
          </a:p>
        </p:txBody>
      </p:sp>
      <p:sp>
        <p:nvSpPr>
          <p:cNvPr id="20" name="Text 18"/>
          <p:cNvSpPr/>
          <p:nvPr/>
        </p:nvSpPr>
        <p:spPr>
          <a:xfrm>
            <a:off x="3749040" y="1600200"/>
            <a:ext cx="1463040" cy="1965960"/>
          </a:xfrm>
          <a:prstGeom prst="rect">
            <a:avLst/>
          </a:prstGeom>
          <a:noFill/>
          <a:ln/>
        </p:spPr>
        <p:txBody>
          <a:bodyPr wrap="square" rtlCol="0" anchor="t"/>
          <a:lstStyle/>
          <a:p>
            <a:pPr marL="0" indent="0" algn="ctr">
              <a:buNone/>
            </a:pPr>
            <a:r>
              <a:rPr lang="en-US" sz="1400" dirty="0">
                <a:solidFill>
                  <a:srgbClr val="2C3E5A"/>
                </a:solidFill>
                <a:ea typeface="Calibri" pitchFamily="34" charset="-122"/>
                <a:cs typeface="Calibri" pitchFamily="34" charset="-120"/>
              </a:rPr>
              <a:t>Reorder columns,</a:t>
            </a:r>
            <a:endParaRPr lang="en-US" sz="1400" dirty="0"/>
          </a:p>
          <a:p>
            <a:pPr marL="0" indent="0" algn="ctr">
              <a:buNone/>
            </a:pPr>
            <a:r>
              <a:rPr lang="en-US" sz="1400" dirty="0">
                <a:solidFill>
                  <a:srgbClr val="2C3E5A"/>
                </a:solidFill>
                <a:ea typeface="Calibri" pitchFamily="34" charset="-122"/>
                <a:cs typeface="Calibri" pitchFamily="34" charset="-120"/>
              </a:rPr>
              <a:t>fill missing,</a:t>
            </a:r>
            <a:endParaRPr lang="en-US" sz="1400" dirty="0"/>
          </a:p>
          <a:p>
            <a:pPr marL="0" indent="0" algn="ctr">
              <a:buNone/>
            </a:pPr>
            <a:r>
              <a:rPr lang="en-US" sz="1400" dirty="0">
                <a:solidFill>
                  <a:srgbClr val="2C3E5A"/>
                </a:solidFill>
                <a:ea typeface="Calibri" pitchFamily="34" charset="-122"/>
                <a:cs typeface="Calibri" pitchFamily="34" charset="-120"/>
              </a:rPr>
              <a:t>drop extras</a:t>
            </a:r>
            <a:endParaRPr lang="en-US" sz="1400" dirty="0"/>
          </a:p>
        </p:txBody>
      </p:sp>
      <p:sp>
        <p:nvSpPr>
          <p:cNvPr id="21" name="Shape 19"/>
          <p:cNvSpPr/>
          <p:nvPr/>
        </p:nvSpPr>
        <p:spPr>
          <a:xfrm>
            <a:off x="5230368" y="2377440"/>
            <a:ext cx="246888" cy="0"/>
          </a:xfrm>
          <a:prstGeom prst="line">
            <a:avLst/>
          </a:prstGeom>
          <a:noFill/>
          <a:ln w="31750">
            <a:solidFill>
              <a:srgbClr val="C9A84C"/>
            </a:solidFill>
            <a:prstDash val="solid"/>
          </a:ln>
        </p:spPr>
      </p:sp>
      <p:sp>
        <p:nvSpPr>
          <p:cNvPr id="22" name="Shape 20"/>
          <p:cNvSpPr/>
          <p:nvPr/>
        </p:nvSpPr>
        <p:spPr>
          <a:xfrm>
            <a:off x="5440680" y="1097280"/>
            <a:ext cx="1463040" cy="2560320"/>
          </a:xfrm>
          <a:prstGeom prst="rect">
            <a:avLst/>
          </a:prstGeom>
          <a:solidFill>
            <a:srgbClr val="FFFFFF"/>
          </a:solidFill>
          <a:ln w="12700">
            <a:solidFill>
              <a:srgbClr val="1C2B4A"/>
            </a:solidFill>
            <a:prstDash val="solid"/>
          </a:ln>
        </p:spPr>
      </p:sp>
      <p:sp>
        <p:nvSpPr>
          <p:cNvPr id="23" name="Shape 21"/>
          <p:cNvSpPr/>
          <p:nvPr/>
        </p:nvSpPr>
        <p:spPr>
          <a:xfrm>
            <a:off x="5440680" y="1097280"/>
            <a:ext cx="1463040" cy="411480"/>
          </a:xfrm>
          <a:prstGeom prst="rect">
            <a:avLst/>
          </a:prstGeom>
          <a:solidFill>
            <a:srgbClr val="2E4272"/>
          </a:solidFill>
          <a:ln w="12700">
            <a:solidFill>
              <a:srgbClr val="2E4272"/>
            </a:solidFill>
            <a:prstDash val="solid"/>
          </a:ln>
        </p:spPr>
      </p:sp>
      <p:sp>
        <p:nvSpPr>
          <p:cNvPr id="24" name="Text 22"/>
          <p:cNvSpPr/>
          <p:nvPr/>
        </p:nvSpPr>
        <p:spPr>
          <a:xfrm>
            <a:off x="5440680" y="109728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Model</a:t>
            </a:r>
            <a:endParaRPr lang="en-US" sz="1000" dirty="0"/>
          </a:p>
          <a:p>
            <a:pPr marL="0" indent="0" algn="ctr">
              <a:buNone/>
            </a:pPr>
            <a:r>
              <a:rPr lang="en-US" sz="1000" b="1" dirty="0">
                <a:solidFill>
                  <a:srgbClr val="FFFFFF"/>
                </a:solidFill>
                <a:latin typeface="Georgia" pitchFamily="34" charset="0"/>
                <a:ea typeface="Georgia" pitchFamily="34" charset="-122"/>
                <a:cs typeface="Georgia" pitchFamily="34" charset="-120"/>
              </a:rPr>
              <a:t>Inference</a:t>
            </a:r>
            <a:endParaRPr lang="en-US" sz="1000" dirty="0"/>
          </a:p>
        </p:txBody>
      </p:sp>
      <p:sp>
        <p:nvSpPr>
          <p:cNvPr id="25" name="Text 23"/>
          <p:cNvSpPr/>
          <p:nvPr/>
        </p:nvSpPr>
        <p:spPr>
          <a:xfrm>
            <a:off x="5440680" y="1600200"/>
            <a:ext cx="1463040" cy="1965960"/>
          </a:xfrm>
          <a:prstGeom prst="rect">
            <a:avLst/>
          </a:prstGeom>
          <a:noFill/>
          <a:ln/>
        </p:spPr>
        <p:txBody>
          <a:bodyPr wrap="square" rtlCol="0" anchor="t"/>
          <a:lstStyle/>
          <a:p>
            <a:pPr marL="0" indent="0" algn="ctr">
              <a:buNone/>
            </a:pPr>
            <a:r>
              <a:rPr lang="en-US" sz="1400" dirty="0">
                <a:solidFill>
                  <a:srgbClr val="2C3E5A"/>
                </a:solidFill>
                <a:ea typeface="Calibri" pitchFamily="34" charset="-122"/>
                <a:cs typeface="Calibri" pitchFamily="34" charset="-120"/>
              </a:rPr>
              <a:t>Load model,</a:t>
            </a:r>
            <a:endParaRPr lang="en-US" sz="1400" dirty="0"/>
          </a:p>
          <a:p>
            <a:pPr marL="0" indent="0" algn="ctr">
              <a:buNone/>
            </a:pPr>
            <a:r>
              <a:rPr lang="en-US" sz="1400" dirty="0">
                <a:solidFill>
                  <a:srgbClr val="2C3E5A"/>
                </a:solidFill>
                <a:ea typeface="Calibri" pitchFamily="34" charset="-122"/>
                <a:cs typeface="Calibri" pitchFamily="34" charset="-120"/>
              </a:rPr>
              <a:t>execute predict(),</a:t>
            </a:r>
            <a:endParaRPr lang="en-US" sz="1400" dirty="0"/>
          </a:p>
          <a:p>
            <a:pPr marL="0" indent="0" algn="ctr">
              <a:buNone/>
            </a:pPr>
            <a:r>
              <a:rPr lang="en-US" sz="1400" dirty="0">
                <a:solidFill>
                  <a:srgbClr val="2C3E5A"/>
                </a:solidFill>
                <a:ea typeface="Calibri" pitchFamily="34" charset="-122"/>
                <a:cs typeface="Calibri" pitchFamily="34" charset="-120"/>
              </a:rPr>
              <a:t>get raw score</a:t>
            </a:r>
            <a:endParaRPr lang="en-US" sz="1400" dirty="0"/>
          </a:p>
        </p:txBody>
      </p:sp>
      <p:sp>
        <p:nvSpPr>
          <p:cNvPr id="26" name="Shape 24"/>
          <p:cNvSpPr/>
          <p:nvPr/>
        </p:nvSpPr>
        <p:spPr>
          <a:xfrm>
            <a:off x="6922008" y="2377440"/>
            <a:ext cx="246888" cy="0"/>
          </a:xfrm>
          <a:prstGeom prst="line">
            <a:avLst/>
          </a:prstGeom>
          <a:noFill/>
          <a:ln w="31750">
            <a:solidFill>
              <a:srgbClr val="C9A84C"/>
            </a:solidFill>
            <a:prstDash val="solid"/>
          </a:ln>
        </p:spPr>
      </p:sp>
      <p:sp>
        <p:nvSpPr>
          <p:cNvPr id="27" name="Shape 25"/>
          <p:cNvSpPr/>
          <p:nvPr/>
        </p:nvSpPr>
        <p:spPr>
          <a:xfrm>
            <a:off x="7132320" y="1097280"/>
            <a:ext cx="1463040" cy="2560320"/>
          </a:xfrm>
          <a:prstGeom prst="rect">
            <a:avLst/>
          </a:prstGeom>
          <a:solidFill>
            <a:srgbClr val="FFFFFF"/>
          </a:solidFill>
          <a:ln w="12700">
            <a:solidFill>
              <a:srgbClr val="1C2B4A"/>
            </a:solidFill>
            <a:prstDash val="solid"/>
          </a:ln>
        </p:spPr>
      </p:sp>
      <p:sp>
        <p:nvSpPr>
          <p:cNvPr id="28" name="Shape 26"/>
          <p:cNvSpPr/>
          <p:nvPr/>
        </p:nvSpPr>
        <p:spPr>
          <a:xfrm>
            <a:off x="7132320" y="1097280"/>
            <a:ext cx="1463040" cy="411480"/>
          </a:xfrm>
          <a:prstGeom prst="rect">
            <a:avLst/>
          </a:prstGeom>
          <a:solidFill>
            <a:srgbClr val="2E4272"/>
          </a:solidFill>
          <a:ln w="12700">
            <a:solidFill>
              <a:srgbClr val="2E4272"/>
            </a:solidFill>
            <a:prstDash val="solid"/>
          </a:ln>
        </p:spPr>
      </p:sp>
      <p:sp>
        <p:nvSpPr>
          <p:cNvPr id="29" name="Text 27"/>
          <p:cNvSpPr/>
          <p:nvPr/>
        </p:nvSpPr>
        <p:spPr>
          <a:xfrm>
            <a:off x="7132320" y="1097280"/>
            <a:ext cx="14630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Generate</a:t>
            </a:r>
            <a:endParaRPr lang="en-US" sz="1000" dirty="0"/>
          </a:p>
          <a:p>
            <a:pPr marL="0" indent="0" algn="ctr">
              <a:buNone/>
            </a:pPr>
            <a:r>
              <a:rPr lang="en-US" sz="1000" b="1" dirty="0">
                <a:solidFill>
                  <a:srgbClr val="FFFFFF"/>
                </a:solidFill>
                <a:latin typeface="Georgia" pitchFamily="34" charset="0"/>
                <a:ea typeface="Georgia" pitchFamily="34" charset="-122"/>
                <a:cs typeface="Georgia" pitchFamily="34" charset="-120"/>
              </a:rPr>
              <a:t>Output</a:t>
            </a:r>
            <a:endParaRPr lang="en-US" sz="1000" dirty="0"/>
          </a:p>
        </p:txBody>
      </p:sp>
      <p:sp>
        <p:nvSpPr>
          <p:cNvPr id="30" name="Text 28"/>
          <p:cNvSpPr/>
          <p:nvPr/>
        </p:nvSpPr>
        <p:spPr>
          <a:xfrm>
            <a:off x="7132320" y="1600200"/>
            <a:ext cx="1463040" cy="1965960"/>
          </a:xfrm>
          <a:prstGeom prst="rect">
            <a:avLst/>
          </a:prstGeom>
          <a:noFill/>
          <a:ln/>
        </p:spPr>
        <p:txBody>
          <a:bodyPr wrap="square" rtlCol="0" anchor="t"/>
          <a:lstStyle/>
          <a:p>
            <a:pPr marL="0" indent="0" algn="ctr">
              <a:buNone/>
            </a:pPr>
            <a:r>
              <a:rPr lang="en-US" sz="1400" dirty="0">
                <a:solidFill>
                  <a:srgbClr val="2C3E5A"/>
                </a:solidFill>
                <a:ea typeface="Calibri" pitchFamily="34" charset="-122"/>
                <a:cs typeface="Calibri" pitchFamily="34" charset="-120"/>
              </a:rPr>
              <a:t>Round price,</a:t>
            </a:r>
            <a:endParaRPr lang="en-US" sz="1400" dirty="0"/>
          </a:p>
          <a:p>
            <a:pPr marL="0" indent="0" algn="ctr">
              <a:buNone/>
            </a:pPr>
            <a:r>
              <a:rPr lang="en-US" sz="1400" dirty="0">
                <a:solidFill>
                  <a:srgbClr val="2C3E5A"/>
                </a:solidFill>
                <a:ea typeface="Calibri" pitchFamily="34" charset="-122"/>
                <a:cs typeface="Calibri" pitchFamily="34" charset="-120"/>
              </a:rPr>
              <a:t>assign category,</a:t>
            </a:r>
            <a:endParaRPr lang="en-US" sz="1400" dirty="0"/>
          </a:p>
          <a:p>
            <a:pPr marL="0" indent="0" algn="ctr">
              <a:buNone/>
            </a:pPr>
            <a:r>
              <a:rPr lang="en-US" sz="1400" dirty="0">
                <a:solidFill>
                  <a:srgbClr val="2C3E5A"/>
                </a:solidFill>
                <a:ea typeface="Calibri" pitchFamily="34" charset="-122"/>
                <a:cs typeface="Calibri" pitchFamily="34" charset="-120"/>
              </a:rPr>
              <a:t>add suggestions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Land Price Prediction Categories</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Text 5"/>
          <p:cNvSpPr/>
          <p:nvPr/>
        </p:nvSpPr>
        <p:spPr>
          <a:xfrm>
            <a:off x="365760" y="1005840"/>
            <a:ext cx="8412480" cy="347472"/>
          </a:xfrm>
          <a:prstGeom prst="rect">
            <a:avLst/>
          </a:prstGeom>
          <a:noFill/>
          <a:ln/>
        </p:spPr>
        <p:txBody>
          <a:bodyPr wrap="square" rtlCol="0" anchor="ctr"/>
          <a:lstStyle/>
          <a:p>
            <a:pPr marL="0" indent="0" algn="ctr">
              <a:buNone/>
            </a:pPr>
            <a:r>
              <a:rPr lang="en-US" sz="1300" b="1" dirty="0">
                <a:solidFill>
                  <a:srgbClr val="1C2B4A"/>
                </a:solidFill>
                <a:latin typeface="Georgia" pitchFamily="34" charset="0"/>
                <a:ea typeface="Georgia" pitchFamily="34" charset="-122"/>
                <a:cs typeface="Georgia" pitchFamily="34" charset="-120"/>
              </a:rPr>
              <a:t>Model Output: future _ Land _Price per sq. ft. (INR)</a:t>
            </a:r>
            <a:endParaRPr lang="en-US" sz="1300" dirty="0"/>
          </a:p>
        </p:txBody>
      </p:sp>
      <p:sp>
        <p:nvSpPr>
          <p:cNvPr id="8" name="Shape 6"/>
          <p:cNvSpPr/>
          <p:nvPr/>
        </p:nvSpPr>
        <p:spPr>
          <a:xfrm>
            <a:off x="320040" y="1508760"/>
            <a:ext cx="1920240" cy="3246120"/>
          </a:xfrm>
          <a:prstGeom prst="rect">
            <a:avLst/>
          </a:prstGeom>
          <a:solidFill>
            <a:srgbClr val="FFFFFF"/>
          </a:solidFill>
          <a:ln w="12700">
            <a:solidFill>
              <a:srgbClr val="B0BAC9"/>
            </a:solidFill>
            <a:prstDash val="solid"/>
          </a:ln>
        </p:spPr>
      </p:sp>
      <p:sp>
        <p:nvSpPr>
          <p:cNvPr id="9" name="Shape 7"/>
          <p:cNvSpPr/>
          <p:nvPr/>
        </p:nvSpPr>
        <p:spPr>
          <a:xfrm>
            <a:off x="320040" y="1508760"/>
            <a:ext cx="1920240" cy="566928"/>
          </a:xfrm>
          <a:prstGeom prst="rect">
            <a:avLst/>
          </a:prstGeom>
          <a:solidFill>
            <a:srgbClr val="B0BAC9"/>
          </a:solidFill>
          <a:ln w="12700">
            <a:solidFill>
              <a:srgbClr val="B0BAC9"/>
            </a:solidFill>
            <a:prstDash val="solid"/>
          </a:ln>
        </p:spPr>
      </p:sp>
      <p:sp>
        <p:nvSpPr>
          <p:cNvPr id="10" name="Text 8"/>
          <p:cNvSpPr/>
          <p:nvPr/>
        </p:nvSpPr>
        <p:spPr>
          <a:xfrm>
            <a:off x="320040" y="1508760"/>
            <a:ext cx="19202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Low Value</a:t>
            </a:r>
            <a:endParaRPr lang="en-US" sz="1200" dirty="0"/>
          </a:p>
        </p:txBody>
      </p:sp>
      <p:sp>
        <p:nvSpPr>
          <p:cNvPr id="11" name="Text 9"/>
          <p:cNvSpPr/>
          <p:nvPr/>
        </p:nvSpPr>
        <p:spPr>
          <a:xfrm>
            <a:off x="320040" y="1783080"/>
            <a:ext cx="1920240" cy="29260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&lt; ₹500/sq.ft</a:t>
            </a:r>
            <a:endParaRPr lang="en-US" sz="1000" dirty="0"/>
          </a:p>
        </p:txBody>
      </p:sp>
      <p:sp>
        <p:nvSpPr>
          <p:cNvPr id="12" name="Text 10"/>
          <p:cNvSpPr/>
          <p:nvPr/>
        </p:nvSpPr>
        <p:spPr>
          <a:xfrm>
            <a:off x="411480" y="2176272"/>
            <a:ext cx="1737360" cy="2468880"/>
          </a:xfrm>
          <a:prstGeom prst="rect">
            <a:avLst/>
          </a:prstGeom>
          <a:noFill/>
          <a:ln/>
        </p:spPr>
        <p:txBody>
          <a:bodyPr wrap="square" rtlCol="0" anchor="t"/>
          <a:lstStyle/>
          <a:p>
            <a:pPr marL="0" indent="0" algn="ctr">
              <a:buNone/>
            </a:pPr>
            <a:r>
              <a:rPr lang="en-US" sz="1400" dirty="0">
                <a:solidFill>
                  <a:srgbClr val="2C3E5A"/>
                </a:solidFill>
                <a:latin typeface="Calibri" pitchFamily="34" charset="0"/>
                <a:ea typeface="Calibri" pitchFamily="34" charset="-122"/>
                <a:cs typeface="Calibri" pitchFamily="34" charset="-120"/>
              </a:rPr>
              <a:t>High risk zone or underdeveloped area. Significant infrastructure improvements needed before investment.</a:t>
            </a:r>
            <a:endParaRPr lang="en-US" sz="1400" dirty="0"/>
          </a:p>
        </p:txBody>
      </p:sp>
      <p:sp>
        <p:nvSpPr>
          <p:cNvPr id="13" name="Shape 11"/>
          <p:cNvSpPr/>
          <p:nvPr/>
        </p:nvSpPr>
        <p:spPr>
          <a:xfrm>
            <a:off x="2468880" y="1508760"/>
            <a:ext cx="1920240" cy="3246120"/>
          </a:xfrm>
          <a:prstGeom prst="rect">
            <a:avLst/>
          </a:prstGeom>
          <a:solidFill>
            <a:srgbClr val="FFFFFF"/>
          </a:solidFill>
          <a:ln w="12700">
            <a:solidFill>
              <a:srgbClr val="7B9BBF"/>
            </a:solidFill>
            <a:prstDash val="solid"/>
          </a:ln>
        </p:spPr>
      </p:sp>
      <p:sp>
        <p:nvSpPr>
          <p:cNvPr id="14" name="Shape 12"/>
          <p:cNvSpPr/>
          <p:nvPr/>
        </p:nvSpPr>
        <p:spPr>
          <a:xfrm>
            <a:off x="2468880" y="1508760"/>
            <a:ext cx="1920240" cy="566928"/>
          </a:xfrm>
          <a:prstGeom prst="rect">
            <a:avLst/>
          </a:prstGeom>
          <a:solidFill>
            <a:srgbClr val="7B9BBF"/>
          </a:solidFill>
          <a:ln w="12700">
            <a:solidFill>
              <a:srgbClr val="7B9BBF"/>
            </a:solidFill>
            <a:prstDash val="solid"/>
          </a:ln>
        </p:spPr>
      </p:sp>
      <p:sp>
        <p:nvSpPr>
          <p:cNvPr id="15" name="Text 13"/>
          <p:cNvSpPr/>
          <p:nvPr/>
        </p:nvSpPr>
        <p:spPr>
          <a:xfrm>
            <a:off x="2468880" y="1508760"/>
            <a:ext cx="19202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Moderate</a:t>
            </a:r>
            <a:endParaRPr lang="en-US" sz="1200" dirty="0"/>
          </a:p>
        </p:txBody>
      </p:sp>
      <p:sp>
        <p:nvSpPr>
          <p:cNvPr id="16" name="Text 14"/>
          <p:cNvSpPr/>
          <p:nvPr/>
        </p:nvSpPr>
        <p:spPr>
          <a:xfrm>
            <a:off x="2468880" y="1783080"/>
            <a:ext cx="1920240" cy="29260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₹500 – ₹1500</a:t>
            </a:r>
            <a:endParaRPr lang="en-US" sz="1000" dirty="0"/>
          </a:p>
        </p:txBody>
      </p:sp>
      <p:sp>
        <p:nvSpPr>
          <p:cNvPr id="17" name="Text 15"/>
          <p:cNvSpPr/>
          <p:nvPr/>
        </p:nvSpPr>
        <p:spPr>
          <a:xfrm>
            <a:off x="2560320" y="2176272"/>
            <a:ext cx="1737360" cy="2468880"/>
          </a:xfrm>
          <a:prstGeom prst="rect">
            <a:avLst/>
          </a:prstGeom>
          <a:noFill/>
          <a:ln/>
        </p:spPr>
        <p:txBody>
          <a:bodyPr wrap="square" rtlCol="0" anchor="t"/>
          <a:lstStyle/>
          <a:p>
            <a:pPr marL="0" indent="0" algn="ctr">
              <a:buNone/>
            </a:pPr>
            <a:r>
              <a:rPr lang="en-US" sz="1400" dirty="0">
                <a:solidFill>
                  <a:srgbClr val="2C3E5A"/>
                </a:solidFill>
                <a:latin typeface="Calibri" pitchFamily="34" charset="0"/>
                <a:ea typeface="Calibri" pitchFamily="34" charset="-122"/>
                <a:cs typeface="Calibri" pitchFamily="34" charset="-120"/>
              </a:rPr>
              <a:t>Average potential. May suit residential development with standard returns on investment.</a:t>
            </a:r>
            <a:endParaRPr lang="en-US" sz="1400" dirty="0"/>
          </a:p>
        </p:txBody>
      </p:sp>
      <p:sp>
        <p:nvSpPr>
          <p:cNvPr id="18" name="Shape 16"/>
          <p:cNvSpPr/>
          <p:nvPr/>
        </p:nvSpPr>
        <p:spPr>
          <a:xfrm>
            <a:off x="4617720" y="1508760"/>
            <a:ext cx="1920240" cy="3246120"/>
          </a:xfrm>
          <a:prstGeom prst="rect">
            <a:avLst/>
          </a:prstGeom>
          <a:solidFill>
            <a:srgbClr val="FFFFFF"/>
          </a:solidFill>
          <a:ln w="12700">
            <a:solidFill>
              <a:srgbClr val="3D6494"/>
            </a:solidFill>
            <a:prstDash val="solid"/>
          </a:ln>
        </p:spPr>
      </p:sp>
      <p:sp>
        <p:nvSpPr>
          <p:cNvPr id="19" name="Shape 17"/>
          <p:cNvSpPr/>
          <p:nvPr/>
        </p:nvSpPr>
        <p:spPr>
          <a:xfrm>
            <a:off x="4617720" y="1508760"/>
            <a:ext cx="1920240" cy="566928"/>
          </a:xfrm>
          <a:prstGeom prst="rect">
            <a:avLst/>
          </a:prstGeom>
          <a:solidFill>
            <a:srgbClr val="3D6494"/>
          </a:solidFill>
          <a:ln w="12700">
            <a:solidFill>
              <a:srgbClr val="3D6494"/>
            </a:solidFill>
            <a:prstDash val="solid"/>
          </a:ln>
        </p:spPr>
      </p:sp>
      <p:sp>
        <p:nvSpPr>
          <p:cNvPr id="20" name="Text 18"/>
          <p:cNvSpPr/>
          <p:nvPr/>
        </p:nvSpPr>
        <p:spPr>
          <a:xfrm>
            <a:off x="4617720" y="1508760"/>
            <a:ext cx="19202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High Value</a:t>
            </a:r>
            <a:endParaRPr lang="en-US" sz="1200" dirty="0"/>
          </a:p>
        </p:txBody>
      </p:sp>
      <p:sp>
        <p:nvSpPr>
          <p:cNvPr id="21" name="Text 19"/>
          <p:cNvSpPr/>
          <p:nvPr/>
        </p:nvSpPr>
        <p:spPr>
          <a:xfrm>
            <a:off x="4617720" y="1783080"/>
            <a:ext cx="1920240" cy="29260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₹1500 – ₹3000</a:t>
            </a:r>
            <a:endParaRPr lang="en-US" sz="1000" dirty="0"/>
          </a:p>
        </p:txBody>
      </p:sp>
      <p:sp>
        <p:nvSpPr>
          <p:cNvPr id="22" name="Text 20"/>
          <p:cNvSpPr/>
          <p:nvPr/>
        </p:nvSpPr>
        <p:spPr>
          <a:xfrm>
            <a:off x="4709160" y="2176272"/>
            <a:ext cx="1737360" cy="2468880"/>
          </a:xfrm>
          <a:prstGeom prst="rect">
            <a:avLst/>
          </a:prstGeom>
          <a:noFill/>
          <a:ln/>
        </p:spPr>
        <p:txBody>
          <a:bodyPr wrap="square" rtlCol="0" anchor="t"/>
          <a:lstStyle/>
          <a:p>
            <a:pPr marL="0" indent="0" algn="ctr">
              <a:buNone/>
            </a:pPr>
            <a:r>
              <a:rPr lang="en-US" sz="1400" dirty="0">
                <a:solidFill>
                  <a:srgbClr val="2C3E5A"/>
                </a:solidFill>
                <a:latin typeface="Calibri" pitchFamily="34" charset="0"/>
                <a:ea typeface="Calibri" pitchFamily="34" charset="-122"/>
                <a:cs typeface="Calibri" pitchFamily="34" charset="-120"/>
              </a:rPr>
              <a:t>Strong growth area. Eligible for premium development projects with competitive returns.</a:t>
            </a:r>
            <a:endParaRPr lang="en-US" sz="1400" dirty="0"/>
          </a:p>
        </p:txBody>
      </p:sp>
      <p:sp>
        <p:nvSpPr>
          <p:cNvPr id="23" name="Shape 21"/>
          <p:cNvSpPr/>
          <p:nvPr/>
        </p:nvSpPr>
        <p:spPr>
          <a:xfrm>
            <a:off x="6766560" y="1508760"/>
            <a:ext cx="1920240" cy="3246120"/>
          </a:xfrm>
          <a:prstGeom prst="rect">
            <a:avLst/>
          </a:prstGeom>
          <a:solidFill>
            <a:srgbClr val="FFFFFF"/>
          </a:solidFill>
          <a:ln w="12700">
            <a:solidFill>
              <a:srgbClr val="1C2B4A"/>
            </a:solidFill>
            <a:prstDash val="solid"/>
          </a:ln>
        </p:spPr>
      </p:sp>
      <p:sp>
        <p:nvSpPr>
          <p:cNvPr id="24" name="Shape 22"/>
          <p:cNvSpPr/>
          <p:nvPr/>
        </p:nvSpPr>
        <p:spPr>
          <a:xfrm>
            <a:off x="6766560" y="1508760"/>
            <a:ext cx="1920240" cy="566928"/>
          </a:xfrm>
          <a:prstGeom prst="rect">
            <a:avLst/>
          </a:prstGeom>
          <a:solidFill>
            <a:srgbClr val="1C2B4A"/>
          </a:solidFill>
          <a:ln w="12700">
            <a:solidFill>
              <a:srgbClr val="1C2B4A"/>
            </a:solidFill>
            <a:prstDash val="solid"/>
          </a:ln>
        </p:spPr>
      </p:sp>
      <p:sp>
        <p:nvSpPr>
          <p:cNvPr id="25" name="Text 23"/>
          <p:cNvSpPr/>
          <p:nvPr/>
        </p:nvSpPr>
        <p:spPr>
          <a:xfrm>
            <a:off x="6766560" y="1508760"/>
            <a:ext cx="19202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Premium</a:t>
            </a:r>
            <a:endParaRPr lang="en-US" sz="1200" dirty="0"/>
          </a:p>
        </p:txBody>
      </p:sp>
      <p:sp>
        <p:nvSpPr>
          <p:cNvPr id="26" name="Text 24"/>
          <p:cNvSpPr/>
          <p:nvPr/>
        </p:nvSpPr>
        <p:spPr>
          <a:xfrm>
            <a:off x="6766560" y="1783080"/>
            <a:ext cx="1920240" cy="29260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&gt; ₹3000/sq.ft</a:t>
            </a:r>
            <a:endParaRPr lang="en-US" sz="1000" dirty="0"/>
          </a:p>
        </p:txBody>
      </p:sp>
      <p:sp>
        <p:nvSpPr>
          <p:cNvPr id="27" name="Text 25"/>
          <p:cNvSpPr/>
          <p:nvPr/>
        </p:nvSpPr>
        <p:spPr>
          <a:xfrm>
            <a:off x="6858000" y="2176272"/>
            <a:ext cx="1737360" cy="2468880"/>
          </a:xfrm>
          <a:prstGeom prst="rect">
            <a:avLst/>
          </a:prstGeom>
          <a:noFill/>
          <a:ln/>
        </p:spPr>
        <p:txBody>
          <a:bodyPr wrap="square" rtlCol="0" anchor="t"/>
          <a:lstStyle/>
          <a:p>
            <a:pPr marL="0" indent="0" algn="ctr">
              <a:buNone/>
            </a:pPr>
            <a:r>
              <a:rPr lang="en-US" sz="1400" dirty="0">
                <a:solidFill>
                  <a:srgbClr val="2C3E5A"/>
                </a:solidFill>
                <a:latin typeface="Calibri" pitchFamily="34" charset="0"/>
                <a:ea typeface="Calibri" pitchFamily="34" charset="-122"/>
                <a:cs typeface="Calibri" pitchFamily="34" charset="-120"/>
              </a:rPr>
              <a:t>Prime location. Exceptional connectivity and infrastructure. Highest investment returns.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Conclusion</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Shape 5"/>
          <p:cNvSpPr/>
          <p:nvPr/>
        </p:nvSpPr>
        <p:spPr>
          <a:xfrm>
            <a:off x="320040" y="1097280"/>
            <a:ext cx="4069080" cy="1554480"/>
          </a:xfrm>
          <a:prstGeom prst="rect">
            <a:avLst/>
          </a:prstGeom>
          <a:solidFill>
            <a:srgbClr val="FFFFFF"/>
          </a:solidFill>
          <a:ln w="12700">
            <a:solidFill>
              <a:srgbClr val="1C2B4A"/>
            </a:solidFill>
            <a:prstDash val="solid"/>
          </a:ln>
        </p:spPr>
      </p:sp>
      <p:sp>
        <p:nvSpPr>
          <p:cNvPr id="8" name="Shape 6"/>
          <p:cNvSpPr/>
          <p:nvPr/>
        </p:nvSpPr>
        <p:spPr>
          <a:xfrm>
            <a:off x="320040" y="1097280"/>
            <a:ext cx="64008" cy="1554480"/>
          </a:xfrm>
          <a:prstGeom prst="rect">
            <a:avLst/>
          </a:prstGeom>
          <a:solidFill>
            <a:srgbClr val="C9A84C"/>
          </a:solidFill>
          <a:ln w="12700">
            <a:solidFill>
              <a:srgbClr val="C9A84C"/>
            </a:solidFill>
            <a:prstDash val="solid"/>
          </a:ln>
        </p:spPr>
      </p:sp>
      <p:sp>
        <p:nvSpPr>
          <p:cNvPr id="9" name="Text 7"/>
          <p:cNvSpPr/>
          <p:nvPr/>
        </p:nvSpPr>
        <p:spPr>
          <a:xfrm>
            <a:off x="521208" y="1234440"/>
            <a:ext cx="3749040" cy="347472"/>
          </a:xfrm>
          <a:prstGeom prst="rect">
            <a:avLst/>
          </a:prstGeom>
          <a:noFill/>
          <a:ln/>
        </p:spPr>
        <p:txBody>
          <a:bodyPr wrap="square" rtlCol="0" anchor="ctr"/>
          <a:lstStyle/>
          <a:p>
            <a:pPr marL="0" indent="0">
              <a:buNone/>
            </a:pPr>
            <a:r>
              <a:rPr lang="en-US" sz="1300" b="1" dirty="0">
                <a:solidFill>
                  <a:srgbClr val="1C2B4A"/>
                </a:solidFill>
                <a:latin typeface="Georgia" pitchFamily="34" charset="0"/>
                <a:ea typeface="Georgia" pitchFamily="34" charset="-122"/>
                <a:cs typeface="Georgia" pitchFamily="34" charset="-120"/>
              </a:rPr>
              <a:t>Achievement</a:t>
            </a:r>
            <a:endParaRPr lang="en-US" sz="1300" dirty="0"/>
          </a:p>
        </p:txBody>
      </p:sp>
      <p:sp>
        <p:nvSpPr>
          <p:cNvPr id="10" name="Text 8"/>
          <p:cNvSpPr/>
          <p:nvPr/>
        </p:nvSpPr>
        <p:spPr>
          <a:xfrm>
            <a:off x="521208" y="1600200"/>
            <a:ext cx="3749040" cy="91440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Successfully developed an ML-based system for predicting land price per square foot, addressing limitations of traditional valuation methods.</a:t>
            </a:r>
            <a:endParaRPr lang="en-US" sz="1400" dirty="0"/>
          </a:p>
        </p:txBody>
      </p:sp>
      <p:sp>
        <p:nvSpPr>
          <p:cNvPr id="11" name="Shape 9"/>
          <p:cNvSpPr/>
          <p:nvPr/>
        </p:nvSpPr>
        <p:spPr>
          <a:xfrm>
            <a:off x="4754880" y="1097280"/>
            <a:ext cx="4069080" cy="1554480"/>
          </a:xfrm>
          <a:prstGeom prst="rect">
            <a:avLst/>
          </a:prstGeom>
          <a:solidFill>
            <a:srgbClr val="FFFFFF"/>
          </a:solidFill>
          <a:ln w="12700">
            <a:solidFill>
              <a:srgbClr val="1C2B4A"/>
            </a:solidFill>
            <a:prstDash val="solid"/>
          </a:ln>
        </p:spPr>
      </p:sp>
      <p:sp>
        <p:nvSpPr>
          <p:cNvPr id="12" name="Shape 10"/>
          <p:cNvSpPr/>
          <p:nvPr/>
        </p:nvSpPr>
        <p:spPr>
          <a:xfrm>
            <a:off x="4754880" y="1097280"/>
            <a:ext cx="64008" cy="1554480"/>
          </a:xfrm>
          <a:prstGeom prst="rect">
            <a:avLst/>
          </a:prstGeom>
          <a:solidFill>
            <a:srgbClr val="C9A84C"/>
          </a:solidFill>
          <a:ln w="12700">
            <a:solidFill>
              <a:srgbClr val="C9A84C"/>
            </a:solidFill>
            <a:prstDash val="solid"/>
          </a:ln>
        </p:spPr>
      </p:sp>
      <p:sp>
        <p:nvSpPr>
          <p:cNvPr id="13" name="Text 11"/>
          <p:cNvSpPr/>
          <p:nvPr/>
        </p:nvSpPr>
        <p:spPr>
          <a:xfrm>
            <a:off x="4956048" y="1234440"/>
            <a:ext cx="3749040" cy="347472"/>
          </a:xfrm>
          <a:prstGeom prst="rect">
            <a:avLst/>
          </a:prstGeom>
          <a:noFill/>
          <a:ln/>
        </p:spPr>
        <p:txBody>
          <a:bodyPr wrap="square" rtlCol="0" anchor="ctr"/>
          <a:lstStyle/>
          <a:p>
            <a:pPr marL="0" indent="0">
              <a:buNone/>
            </a:pPr>
            <a:r>
              <a:rPr lang="en-US" sz="1300" b="1" dirty="0">
                <a:solidFill>
                  <a:srgbClr val="1C2B4A"/>
                </a:solidFill>
                <a:latin typeface="Georgia" pitchFamily="34" charset="0"/>
                <a:ea typeface="Georgia" pitchFamily="34" charset="-122"/>
                <a:cs typeface="Georgia" pitchFamily="34" charset="-120"/>
              </a:rPr>
              <a:t>Key Factors</a:t>
            </a:r>
            <a:endParaRPr lang="en-US" sz="1300" dirty="0"/>
          </a:p>
        </p:txBody>
      </p:sp>
      <p:sp>
        <p:nvSpPr>
          <p:cNvPr id="14" name="Text 12"/>
          <p:cNvSpPr/>
          <p:nvPr/>
        </p:nvSpPr>
        <p:spPr>
          <a:xfrm>
            <a:off x="4956048" y="1600200"/>
            <a:ext cx="3749040" cy="91440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System analyses location, infrastructure proximity, environmental conditions, population growth, and development indicators for reliable predictions.</a:t>
            </a:r>
            <a:endParaRPr lang="en-US" sz="1400" dirty="0"/>
          </a:p>
        </p:txBody>
      </p:sp>
      <p:sp>
        <p:nvSpPr>
          <p:cNvPr id="15" name="Shape 13"/>
          <p:cNvSpPr/>
          <p:nvPr/>
        </p:nvSpPr>
        <p:spPr>
          <a:xfrm>
            <a:off x="320040" y="2880360"/>
            <a:ext cx="4069080" cy="1554480"/>
          </a:xfrm>
          <a:prstGeom prst="rect">
            <a:avLst/>
          </a:prstGeom>
          <a:solidFill>
            <a:srgbClr val="FFFFFF"/>
          </a:solidFill>
          <a:ln w="12700">
            <a:solidFill>
              <a:srgbClr val="1C2B4A"/>
            </a:solidFill>
            <a:prstDash val="solid"/>
          </a:ln>
        </p:spPr>
      </p:sp>
      <p:sp>
        <p:nvSpPr>
          <p:cNvPr id="16" name="Shape 14"/>
          <p:cNvSpPr/>
          <p:nvPr/>
        </p:nvSpPr>
        <p:spPr>
          <a:xfrm>
            <a:off x="320040" y="2880360"/>
            <a:ext cx="64008" cy="1554480"/>
          </a:xfrm>
          <a:prstGeom prst="rect">
            <a:avLst/>
          </a:prstGeom>
          <a:solidFill>
            <a:srgbClr val="C9A84C"/>
          </a:solidFill>
          <a:ln w="12700">
            <a:solidFill>
              <a:srgbClr val="C9A84C"/>
            </a:solidFill>
            <a:prstDash val="solid"/>
          </a:ln>
        </p:spPr>
      </p:sp>
      <p:sp>
        <p:nvSpPr>
          <p:cNvPr id="17" name="Text 15"/>
          <p:cNvSpPr/>
          <p:nvPr/>
        </p:nvSpPr>
        <p:spPr>
          <a:xfrm>
            <a:off x="521208" y="3017520"/>
            <a:ext cx="3749040" cy="347472"/>
          </a:xfrm>
          <a:prstGeom prst="rect">
            <a:avLst/>
          </a:prstGeom>
          <a:noFill/>
          <a:ln/>
        </p:spPr>
        <p:txBody>
          <a:bodyPr wrap="square" rtlCol="0" anchor="ctr"/>
          <a:lstStyle/>
          <a:p>
            <a:pPr marL="0" indent="0">
              <a:buNone/>
            </a:pPr>
            <a:r>
              <a:rPr lang="en-US" sz="1300" b="1" dirty="0">
                <a:solidFill>
                  <a:srgbClr val="1C2B4A"/>
                </a:solidFill>
                <a:latin typeface="Georgia" pitchFamily="34" charset="0"/>
                <a:ea typeface="Georgia" pitchFamily="34" charset="-122"/>
                <a:cs typeface="Georgia" pitchFamily="34" charset="-120"/>
              </a:rPr>
              <a:t>Impact</a:t>
            </a:r>
            <a:endParaRPr lang="en-US" sz="1300" dirty="0"/>
          </a:p>
        </p:txBody>
      </p:sp>
      <p:sp>
        <p:nvSpPr>
          <p:cNvPr id="18" name="Text 16"/>
          <p:cNvSpPr/>
          <p:nvPr/>
        </p:nvSpPr>
        <p:spPr>
          <a:xfrm>
            <a:off x="521208" y="3383280"/>
            <a:ext cx="3749040" cy="91440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Improves prediction accuracy, reduces dependency on manual valuation, and supports smarter decision-making in real estate investment and planning.</a:t>
            </a:r>
            <a:endParaRPr lang="en-US" sz="1400" dirty="0"/>
          </a:p>
        </p:txBody>
      </p:sp>
      <p:sp>
        <p:nvSpPr>
          <p:cNvPr id="19" name="Shape 17"/>
          <p:cNvSpPr/>
          <p:nvPr/>
        </p:nvSpPr>
        <p:spPr>
          <a:xfrm>
            <a:off x="4754880" y="2880360"/>
            <a:ext cx="4069080" cy="1554480"/>
          </a:xfrm>
          <a:prstGeom prst="rect">
            <a:avLst/>
          </a:prstGeom>
          <a:solidFill>
            <a:srgbClr val="FFFFFF"/>
          </a:solidFill>
          <a:ln w="12700">
            <a:solidFill>
              <a:srgbClr val="1C2B4A"/>
            </a:solidFill>
            <a:prstDash val="solid"/>
          </a:ln>
        </p:spPr>
      </p:sp>
      <p:sp>
        <p:nvSpPr>
          <p:cNvPr id="20" name="Shape 18"/>
          <p:cNvSpPr/>
          <p:nvPr/>
        </p:nvSpPr>
        <p:spPr>
          <a:xfrm>
            <a:off x="4754880" y="2880360"/>
            <a:ext cx="64008" cy="1554480"/>
          </a:xfrm>
          <a:prstGeom prst="rect">
            <a:avLst/>
          </a:prstGeom>
          <a:solidFill>
            <a:srgbClr val="C9A84C"/>
          </a:solidFill>
          <a:ln w="12700">
            <a:solidFill>
              <a:srgbClr val="C9A84C"/>
            </a:solidFill>
            <a:prstDash val="solid"/>
          </a:ln>
        </p:spPr>
      </p:sp>
      <p:sp>
        <p:nvSpPr>
          <p:cNvPr id="21" name="Text 19"/>
          <p:cNvSpPr/>
          <p:nvPr/>
        </p:nvSpPr>
        <p:spPr>
          <a:xfrm>
            <a:off x="4956048" y="3017520"/>
            <a:ext cx="3749040" cy="347472"/>
          </a:xfrm>
          <a:prstGeom prst="rect">
            <a:avLst/>
          </a:prstGeom>
          <a:noFill/>
          <a:ln/>
        </p:spPr>
        <p:txBody>
          <a:bodyPr wrap="square" rtlCol="0" anchor="ctr"/>
          <a:lstStyle/>
          <a:p>
            <a:pPr marL="0" indent="0">
              <a:buNone/>
            </a:pPr>
            <a:r>
              <a:rPr lang="en-US" sz="1300" b="1" dirty="0">
                <a:solidFill>
                  <a:srgbClr val="1C2B4A"/>
                </a:solidFill>
                <a:latin typeface="Georgia" pitchFamily="34" charset="0"/>
                <a:ea typeface="Georgia" pitchFamily="34" charset="-122"/>
                <a:cs typeface="Georgia" pitchFamily="34" charset="-120"/>
              </a:rPr>
              <a:t>Future Scope</a:t>
            </a:r>
            <a:endParaRPr lang="en-US" sz="1300" dirty="0"/>
          </a:p>
        </p:txBody>
      </p:sp>
      <p:sp>
        <p:nvSpPr>
          <p:cNvPr id="22" name="Text 20"/>
          <p:cNvSpPr/>
          <p:nvPr/>
        </p:nvSpPr>
        <p:spPr>
          <a:xfrm>
            <a:off x="4956048" y="3383280"/>
            <a:ext cx="3749040" cy="914400"/>
          </a:xfrm>
          <a:prstGeom prst="rect">
            <a:avLst/>
          </a:prstGeom>
          <a:noFill/>
          <a:ln/>
        </p:spPr>
        <p:txBody>
          <a:bodyPr wrap="square" rtlCol="0" anchor="ctr"/>
          <a:lstStyle/>
          <a:p>
            <a:pPr marL="0" indent="0">
              <a:buNone/>
            </a:pPr>
            <a:r>
              <a:rPr lang="en-US" sz="1400" dirty="0">
                <a:solidFill>
                  <a:srgbClr val="2C3E5A"/>
                </a:solidFill>
                <a:latin typeface="Calibri" pitchFamily="34" charset="0"/>
                <a:ea typeface="Calibri" pitchFamily="34" charset="-122"/>
                <a:cs typeface="Calibri" pitchFamily="34" charset="-120"/>
              </a:rPr>
              <a:t>Integrating real-time data sources, user interactive app, interactive dashboards, and cloud-based deployment for scalable use.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B4A"/>
          </a:solidFill>
          <a:ln w="12700">
            <a:solidFill>
              <a:srgbClr val="1C2B4A"/>
            </a:solidFill>
            <a:prstDash val="solid"/>
          </a:ln>
        </p:spPr>
      </p:sp>
      <p:sp>
        <p:nvSpPr>
          <p:cNvPr id="3" name="Shape 1"/>
          <p:cNvSpPr/>
          <p:nvPr/>
        </p:nvSpPr>
        <p:spPr>
          <a:xfrm>
            <a:off x="0" y="914400"/>
            <a:ext cx="9144000" cy="54864"/>
          </a:xfrm>
          <a:prstGeom prst="rect">
            <a:avLst/>
          </a:prstGeom>
          <a:solidFill>
            <a:srgbClr val="C9A84C"/>
          </a:solidFill>
          <a:ln w="12700">
            <a:solidFill>
              <a:srgbClr val="C9A84C"/>
            </a:solidFill>
            <a:prstDash val="solid"/>
          </a:ln>
        </p:spPr>
      </p:sp>
      <p:sp>
        <p:nvSpPr>
          <p:cNvPr id="4" name="Text 2"/>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Future Scope</a:t>
            </a:r>
            <a:endParaRPr lang="en-US" sz="2600" dirty="0"/>
          </a:p>
        </p:txBody>
      </p:sp>
      <p:sp>
        <p:nvSpPr>
          <p:cNvPr id="5" name="Shape 3"/>
          <p:cNvSpPr/>
          <p:nvPr/>
        </p:nvSpPr>
        <p:spPr>
          <a:xfrm>
            <a:off x="0" y="4983480"/>
            <a:ext cx="9144000" cy="160020"/>
          </a:xfrm>
          <a:prstGeom prst="rect">
            <a:avLst/>
          </a:prstGeom>
          <a:solidFill>
            <a:srgbClr val="1C2B4A"/>
          </a:solidFill>
          <a:ln w="12700">
            <a:solidFill>
              <a:srgbClr val="1C2B4A"/>
            </a:solidFill>
            <a:prstDash val="solid"/>
          </a:ln>
        </p:spPr>
      </p:sp>
      <p:sp>
        <p:nvSpPr>
          <p:cNvPr id="6" name="Text 4"/>
          <p:cNvSpPr/>
          <p:nvPr/>
        </p:nvSpPr>
        <p:spPr>
          <a:xfrm>
            <a:off x="274320" y="4983480"/>
            <a:ext cx="8595360" cy="160020"/>
          </a:xfrm>
          <a:prstGeom prst="rect">
            <a:avLst/>
          </a:prstGeom>
          <a:noFill/>
          <a:ln/>
        </p:spPr>
        <p:txBody>
          <a:bodyPr wrap="square" lIns="0" tIns="0" rIns="0" bIns="0" rtlCol="0" anchor="ctr"/>
          <a:lstStyle/>
          <a:p>
            <a:pPr marL="0" indent="0">
              <a:buNone/>
            </a:pPr>
            <a:r>
              <a:rPr lang="en-US" sz="900" dirty="0">
                <a:solidFill>
                  <a:srgbClr val="B0BAC9"/>
                </a:solidFill>
                <a:latin typeface="Calibri" pitchFamily="34" charset="0"/>
                <a:ea typeface="Calibri" pitchFamily="34" charset="-122"/>
                <a:cs typeface="Calibri" pitchFamily="34" charset="-120"/>
              </a:rPr>
              <a:t>Future Land Price Prediction  |  Data Science Team</a:t>
            </a:r>
            <a:endParaRPr lang="en-US" sz="900" dirty="0"/>
          </a:p>
        </p:txBody>
      </p:sp>
      <p:sp>
        <p:nvSpPr>
          <p:cNvPr id="7" name="Shape 5"/>
          <p:cNvSpPr/>
          <p:nvPr/>
        </p:nvSpPr>
        <p:spPr>
          <a:xfrm>
            <a:off x="320040" y="1078992"/>
            <a:ext cx="2651760" cy="1417320"/>
          </a:xfrm>
          <a:prstGeom prst="rect">
            <a:avLst/>
          </a:prstGeom>
          <a:solidFill>
            <a:srgbClr val="FFFFFF"/>
          </a:solidFill>
          <a:ln w="12700">
            <a:solidFill>
              <a:srgbClr val="1C2B4A"/>
            </a:solidFill>
            <a:prstDash val="solid"/>
          </a:ln>
        </p:spPr>
      </p:sp>
      <p:sp>
        <p:nvSpPr>
          <p:cNvPr id="8" name="Shape 6"/>
          <p:cNvSpPr/>
          <p:nvPr/>
        </p:nvSpPr>
        <p:spPr>
          <a:xfrm>
            <a:off x="320040" y="1078992"/>
            <a:ext cx="2651760" cy="54864"/>
          </a:xfrm>
          <a:prstGeom prst="rect">
            <a:avLst/>
          </a:prstGeom>
          <a:solidFill>
            <a:srgbClr val="C9A84C"/>
          </a:solidFill>
          <a:ln w="12700">
            <a:solidFill>
              <a:srgbClr val="C9A84C"/>
            </a:solidFill>
            <a:prstDash val="solid"/>
          </a:ln>
        </p:spPr>
      </p:sp>
      <p:sp>
        <p:nvSpPr>
          <p:cNvPr id="9" name="Shape 7"/>
          <p:cNvSpPr/>
          <p:nvPr/>
        </p:nvSpPr>
        <p:spPr>
          <a:xfrm>
            <a:off x="429768" y="1207008"/>
            <a:ext cx="347472" cy="310896"/>
          </a:xfrm>
          <a:prstGeom prst="rect">
            <a:avLst/>
          </a:prstGeom>
          <a:solidFill>
            <a:srgbClr val="1C2B4A"/>
          </a:solidFill>
          <a:ln w="12700">
            <a:solidFill>
              <a:srgbClr val="1C2B4A"/>
            </a:solidFill>
            <a:prstDash val="solid"/>
          </a:ln>
        </p:spPr>
      </p:sp>
      <p:sp>
        <p:nvSpPr>
          <p:cNvPr id="10" name="Text 8"/>
          <p:cNvSpPr/>
          <p:nvPr/>
        </p:nvSpPr>
        <p:spPr>
          <a:xfrm>
            <a:off x="429768" y="1207008"/>
            <a:ext cx="347472" cy="310896"/>
          </a:xfrm>
          <a:prstGeom prst="rect">
            <a:avLst/>
          </a:prstGeom>
          <a:noFill/>
          <a:ln/>
        </p:spPr>
        <p:txBody>
          <a:bodyPr wrap="square" lIns="0" tIns="0" rIns="0" bIns="0" rtlCol="0" anchor="ctr"/>
          <a:lstStyle/>
          <a:p>
            <a:pPr marL="0" indent="0" algn="ctr">
              <a:buNone/>
            </a:pPr>
            <a:r>
              <a:rPr lang="en-US" sz="1000" b="1" dirty="0">
                <a:solidFill>
                  <a:srgbClr val="C9A84C"/>
                </a:solidFill>
                <a:latin typeface="Georgia" pitchFamily="34" charset="0"/>
                <a:ea typeface="Georgia" pitchFamily="34" charset="-122"/>
                <a:cs typeface="Georgia" pitchFamily="34" charset="-120"/>
              </a:rPr>
              <a:t>01</a:t>
            </a:r>
            <a:endParaRPr lang="en-US" sz="1000" dirty="0"/>
          </a:p>
        </p:txBody>
      </p:sp>
      <p:sp>
        <p:nvSpPr>
          <p:cNvPr id="11" name="Text 9"/>
          <p:cNvSpPr/>
          <p:nvPr/>
        </p:nvSpPr>
        <p:spPr>
          <a:xfrm>
            <a:off x="868680" y="1207008"/>
            <a:ext cx="2011680" cy="329184"/>
          </a:xfrm>
          <a:prstGeom prst="rect">
            <a:avLst/>
          </a:prstGeom>
          <a:noFill/>
          <a:ln/>
        </p:spPr>
        <p:txBody>
          <a:bodyPr wrap="square" rtlCol="0" anchor="ctr"/>
          <a:lstStyle/>
          <a:p>
            <a:pPr marL="0" indent="0">
              <a:buNone/>
            </a:pPr>
            <a:r>
              <a:rPr lang="en-US" sz="1100" b="1" dirty="0">
                <a:solidFill>
                  <a:srgbClr val="1C2B4A"/>
                </a:solidFill>
                <a:latin typeface="Georgia" pitchFamily="34" charset="0"/>
                <a:ea typeface="Georgia" pitchFamily="34" charset="-122"/>
                <a:cs typeface="Georgia" pitchFamily="34" charset="-120"/>
              </a:rPr>
              <a:t>Real-Time Data Integration</a:t>
            </a:r>
            <a:endParaRPr lang="en-US" sz="1100" dirty="0"/>
          </a:p>
        </p:txBody>
      </p:sp>
      <p:sp>
        <p:nvSpPr>
          <p:cNvPr id="12" name="Text 10"/>
          <p:cNvSpPr/>
          <p:nvPr/>
        </p:nvSpPr>
        <p:spPr>
          <a:xfrm>
            <a:off x="429768" y="1591056"/>
            <a:ext cx="2450592" cy="822960"/>
          </a:xfrm>
          <a:prstGeom prst="rect">
            <a:avLst/>
          </a:prstGeom>
          <a:noFill/>
          <a:ln/>
        </p:spPr>
        <p:txBody>
          <a:bodyPr wrap="square" rtlCol="0" anchor="t"/>
          <a:lstStyle/>
          <a:p>
            <a:pPr marL="0" indent="0">
              <a:buNone/>
            </a:pPr>
            <a:r>
              <a:rPr lang="en-US" sz="950" dirty="0">
                <a:solidFill>
                  <a:srgbClr val="2C3E5A"/>
                </a:solidFill>
                <a:latin typeface="Calibri" pitchFamily="34" charset="0"/>
                <a:ea typeface="Calibri" pitchFamily="34" charset="-122"/>
                <a:cs typeface="Calibri" pitchFamily="34" charset="-120"/>
              </a:rPr>
              <a:t>Connect live market feeds and government portals to continuously update predictions with the latest land value indicators.</a:t>
            </a:r>
            <a:endParaRPr lang="en-US" sz="950" dirty="0"/>
          </a:p>
        </p:txBody>
      </p:sp>
      <p:sp>
        <p:nvSpPr>
          <p:cNvPr id="13" name="Shape 11"/>
          <p:cNvSpPr/>
          <p:nvPr/>
        </p:nvSpPr>
        <p:spPr>
          <a:xfrm>
            <a:off x="3200400" y="1078992"/>
            <a:ext cx="2651760" cy="1417320"/>
          </a:xfrm>
          <a:prstGeom prst="rect">
            <a:avLst/>
          </a:prstGeom>
          <a:solidFill>
            <a:srgbClr val="FFFFFF"/>
          </a:solidFill>
          <a:ln w="12700">
            <a:solidFill>
              <a:srgbClr val="1C2B4A"/>
            </a:solidFill>
            <a:prstDash val="solid"/>
          </a:ln>
        </p:spPr>
      </p:sp>
      <p:sp>
        <p:nvSpPr>
          <p:cNvPr id="14" name="Shape 12"/>
          <p:cNvSpPr/>
          <p:nvPr/>
        </p:nvSpPr>
        <p:spPr>
          <a:xfrm>
            <a:off x="3200400" y="1078992"/>
            <a:ext cx="2651760" cy="54864"/>
          </a:xfrm>
          <a:prstGeom prst="rect">
            <a:avLst/>
          </a:prstGeom>
          <a:solidFill>
            <a:srgbClr val="C9A84C"/>
          </a:solidFill>
          <a:ln w="12700">
            <a:solidFill>
              <a:srgbClr val="C9A84C"/>
            </a:solidFill>
            <a:prstDash val="solid"/>
          </a:ln>
        </p:spPr>
      </p:sp>
      <p:sp>
        <p:nvSpPr>
          <p:cNvPr id="15" name="Shape 13"/>
          <p:cNvSpPr/>
          <p:nvPr/>
        </p:nvSpPr>
        <p:spPr>
          <a:xfrm>
            <a:off x="3310128" y="1207008"/>
            <a:ext cx="347472" cy="310896"/>
          </a:xfrm>
          <a:prstGeom prst="rect">
            <a:avLst/>
          </a:prstGeom>
          <a:solidFill>
            <a:srgbClr val="1C2B4A"/>
          </a:solidFill>
          <a:ln w="12700">
            <a:solidFill>
              <a:srgbClr val="1C2B4A"/>
            </a:solidFill>
            <a:prstDash val="solid"/>
          </a:ln>
        </p:spPr>
      </p:sp>
      <p:sp>
        <p:nvSpPr>
          <p:cNvPr id="16" name="Text 14"/>
          <p:cNvSpPr/>
          <p:nvPr/>
        </p:nvSpPr>
        <p:spPr>
          <a:xfrm>
            <a:off x="3310128" y="1207008"/>
            <a:ext cx="347472" cy="310896"/>
          </a:xfrm>
          <a:prstGeom prst="rect">
            <a:avLst/>
          </a:prstGeom>
          <a:noFill/>
          <a:ln/>
        </p:spPr>
        <p:txBody>
          <a:bodyPr wrap="square" lIns="0" tIns="0" rIns="0" bIns="0" rtlCol="0" anchor="ctr"/>
          <a:lstStyle/>
          <a:p>
            <a:pPr marL="0" indent="0" algn="ctr">
              <a:buNone/>
            </a:pPr>
            <a:r>
              <a:rPr lang="en-US" sz="1000" b="1" dirty="0">
                <a:solidFill>
                  <a:srgbClr val="C9A84C"/>
                </a:solidFill>
                <a:latin typeface="Georgia" pitchFamily="34" charset="0"/>
                <a:ea typeface="Georgia" pitchFamily="34" charset="-122"/>
                <a:cs typeface="Georgia" pitchFamily="34" charset="-120"/>
              </a:rPr>
              <a:t>02</a:t>
            </a:r>
            <a:endParaRPr lang="en-US" sz="1000" dirty="0"/>
          </a:p>
        </p:txBody>
      </p:sp>
      <p:sp>
        <p:nvSpPr>
          <p:cNvPr id="17" name="Text 15"/>
          <p:cNvSpPr/>
          <p:nvPr/>
        </p:nvSpPr>
        <p:spPr>
          <a:xfrm>
            <a:off x="3749040" y="1207008"/>
            <a:ext cx="2011680" cy="329184"/>
          </a:xfrm>
          <a:prstGeom prst="rect">
            <a:avLst/>
          </a:prstGeom>
          <a:noFill/>
          <a:ln/>
        </p:spPr>
        <p:txBody>
          <a:bodyPr wrap="square" rtlCol="0" anchor="ctr"/>
          <a:lstStyle/>
          <a:p>
            <a:pPr marL="0" indent="0">
              <a:buNone/>
            </a:pPr>
            <a:r>
              <a:rPr lang="en-US" sz="1100" b="1" dirty="0">
                <a:solidFill>
                  <a:srgbClr val="1C2B4A"/>
                </a:solidFill>
                <a:latin typeface="Georgia" pitchFamily="34" charset="0"/>
                <a:ea typeface="Georgia" pitchFamily="34" charset="-122"/>
                <a:cs typeface="Georgia" pitchFamily="34" charset="-120"/>
              </a:rPr>
              <a:t>Interactive Dashboard</a:t>
            </a:r>
            <a:endParaRPr lang="en-US" sz="1100" dirty="0"/>
          </a:p>
        </p:txBody>
      </p:sp>
      <p:sp>
        <p:nvSpPr>
          <p:cNvPr id="18" name="Text 16"/>
          <p:cNvSpPr/>
          <p:nvPr/>
        </p:nvSpPr>
        <p:spPr>
          <a:xfrm>
            <a:off x="3310128" y="1591056"/>
            <a:ext cx="2450592" cy="822960"/>
          </a:xfrm>
          <a:prstGeom prst="rect">
            <a:avLst/>
          </a:prstGeom>
          <a:noFill/>
          <a:ln/>
        </p:spPr>
        <p:txBody>
          <a:bodyPr wrap="square" rtlCol="0" anchor="t"/>
          <a:lstStyle/>
          <a:p>
            <a:pPr marL="0" indent="0">
              <a:buNone/>
            </a:pPr>
            <a:r>
              <a:rPr lang="en-US" sz="950" dirty="0">
                <a:solidFill>
                  <a:srgbClr val="2C3E5A"/>
                </a:solidFill>
                <a:latin typeface="Calibri" pitchFamily="34" charset="0"/>
                <a:ea typeface="Calibri" pitchFamily="34" charset="-122"/>
                <a:cs typeface="Calibri" pitchFamily="34" charset="-120"/>
              </a:rPr>
              <a:t>Build a visual analytics dashboard with maps and trend charts allowing investors to explore land values by region.</a:t>
            </a:r>
            <a:endParaRPr lang="en-US" sz="950" dirty="0"/>
          </a:p>
        </p:txBody>
      </p:sp>
      <p:sp>
        <p:nvSpPr>
          <p:cNvPr id="19" name="Shape 17"/>
          <p:cNvSpPr/>
          <p:nvPr/>
        </p:nvSpPr>
        <p:spPr>
          <a:xfrm>
            <a:off x="6080760" y="1078992"/>
            <a:ext cx="2651760" cy="1417320"/>
          </a:xfrm>
          <a:prstGeom prst="rect">
            <a:avLst/>
          </a:prstGeom>
          <a:solidFill>
            <a:srgbClr val="FFFFFF"/>
          </a:solidFill>
          <a:ln w="12700">
            <a:solidFill>
              <a:srgbClr val="1C2B4A"/>
            </a:solidFill>
            <a:prstDash val="solid"/>
          </a:ln>
        </p:spPr>
      </p:sp>
      <p:sp>
        <p:nvSpPr>
          <p:cNvPr id="20" name="Shape 18"/>
          <p:cNvSpPr/>
          <p:nvPr/>
        </p:nvSpPr>
        <p:spPr>
          <a:xfrm>
            <a:off x="6080760" y="1078992"/>
            <a:ext cx="2651760" cy="54864"/>
          </a:xfrm>
          <a:prstGeom prst="rect">
            <a:avLst/>
          </a:prstGeom>
          <a:solidFill>
            <a:srgbClr val="C9A84C"/>
          </a:solidFill>
          <a:ln w="12700">
            <a:solidFill>
              <a:srgbClr val="C9A84C"/>
            </a:solidFill>
            <a:prstDash val="solid"/>
          </a:ln>
        </p:spPr>
      </p:sp>
      <p:sp>
        <p:nvSpPr>
          <p:cNvPr id="21" name="Shape 19"/>
          <p:cNvSpPr/>
          <p:nvPr/>
        </p:nvSpPr>
        <p:spPr>
          <a:xfrm>
            <a:off x="6190488" y="1207008"/>
            <a:ext cx="347472" cy="310896"/>
          </a:xfrm>
          <a:prstGeom prst="rect">
            <a:avLst/>
          </a:prstGeom>
          <a:solidFill>
            <a:srgbClr val="1C2B4A"/>
          </a:solidFill>
          <a:ln w="12700">
            <a:solidFill>
              <a:srgbClr val="1C2B4A"/>
            </a:solidFill>
            <a:prstDash val="solid"/>
          </a:ln>
        </p:spPr>
      </p:sp>
      <p:sp>
        <p:nvSpPr>
          <p:cNvPr id="22" name="Text 20"/>
          <p:cNvSpPr/>
          <p:nvPr/>
        </p:nvSpPr>
        <p:spPr>
          <a:xfrm>
            <a:off x="6190488" y="1207008"/>
            <a:ext cx="347472" cy="310896"/>
          </a:xfrm>
          <a:prstGeom prst="rect">
            <a:avLst/>
          </a:prstGeom>
          <a:noFill/>
          <a:ln/>
        </p:spPr>
        <p:txBody>
          <a:bodyPr wrap="square" lIns="0" tIns="0" rIns="0" bIns="0" rtlCol="0" anchor="ctr"/>
          <a:lstStyle/>
          <a:p>
            <a:pPr marL="0" indent="0" algn="ctr">
              <a:buNone/>
            </a:pPr>
            <a:r>
              <a:rPr lang="en-US" sz="1000" b="1" dirty="0">
                <a:solidFill>
                  <a:srgbClr val="C9A84C"/>
                </a:solidFill>
                <a:latin typeface="Georgia" pitchFamily="34" charset="0"/>
                <a:ea typeface="Georgia" pitchFamily="34" charset="-122"/>
                <a:cs typeface="Georgia" pitchFamily="34" charset="-120"/>
              </a:rPr>
              <a:t>03</a:t>
            </a:r>
            <a:endParaRPr lang="en-US" sz="1000" dirty="0"/>
          </a:p>
        </p:txBody>
      </p:sp>
      <p:sp>
        <p:nvSpPr>
          <p:cNvPr id="23" name="Text 21"/>
          <p:cNvSpPr/>
          <p:nvPr/>
        </p:nvSpPr>
        <p:spPr>
          <a:xfrm>
            <a:off x="6629400" y="1207008"/>
            <a:ext cx="2011680" cy="329184"/>
          </a:xfrm>
          <a:prstGeom prst="rect">
            <a:avLst/>
          </a:prstGeom>
          <a:noFill/>
          <a:ln/>
        </p:spPr>
        <p:txBody>
          <a:bodyPr wrap="square" rtlCol="0" anchor="ctr"/>
          <a:lstStyle/>
          <a:p>
            <a:pPr marL="0" indent="0">
              <a:buNone/>
            </a:pPr>
            <a:r>
              <a:rPr lang="en-US" sz="1100" b="1" dirty="0">
                <a:solidFill>
                  <a:srgbClr val="1C2B4A"/>
                </a:solidFill>
                <a:latin typeface="Georgia" pitchFamily="34" charset="0"/>
                <a:ea typeface="Georgia" pitchFamily="34" charset="-122"/>
                <a:cs typeface="Georgia" pitchFamily="34" charset="-120"/>
              </a:rPr>
              <a:t>Cloud-Based Deployment</a:t>
            </a:r>
            <a:endParaRPr lang="en-US" sz="1100" dirty="0"/>
          </a:p>
        </p:txBody>
      </p:sp>
      <p:sp>
        <p:nvSpPr>
          <p:cNvPr id="24" name="Text 22"/>
          <p:cNvSpPr/>
          <p:nvPr/>
        </p:nvSpPr>
        <p:spPr>
          <a:xfrm>
            <a:off x="6190488" y="1591056"/>
            <a:ext cx="2450592" cy="822960"/>
          </a:xfrm>
          <a:prstGeom prst="rect">
            <a:avLst/>
          </a:prstGeom>
          <a:noFill/>
          <a:ln/>
        </p:spPr>
        <p:txBody>
          <a:bodyPr wrap="square" rtlCol="0" anchor="t"/>
          <a:lstStyle/>
          <a:p>
            <a:pPr marL="0" indent="0">
              <a:buNone/>
            </a:pPr>
            <a:r>
              <a:rPr lang="en-US" sz="950" dirty="0">
                <a:solidFill>
                  <a:srgbClr val="2C3E5A"/>
                </a:solidFill>
                <a:latin typeface="Calibri" pitchFamily="34" charset="0"/>
                <a:ea typeface="Calibri" pitchFamily="34" charset="-122"/>
                <a:cs typeface="Calibri" pitchFamily="34" charset="-120"/>
              </a:rPr>
              <a:t>Deploy on AWS / Azure / GCP for scalable, high-availability access by multiple users and real estate platforms.</a:t>
            </a:r>
            <a:endParaRPr lang="en-US" sz="950" dirty="0"/>
          </a:p>
        </p:txBody>
      </p:sp>
      <p:sp>
        <p:nvSpPr>
          <p:cNvPr id="25" name="Shape 23"/>
          <p:cNvSpPr/>
          <p:nvPr/>
        </p:nvSpPr>
        <p:spPr>
          <a:xfrm>
            <a:off x="320040" y="2697480"/>
            <a:ext cx="2651760" cy="1417320"/>
          </a:xfrm>
          <a:prstGeom prst="rect">
            <a:avLst/>
          </a:prstGeom>
          <a:solidFill>
            <a:srgbClr val="FFFFFF"/>
          </a:solidFill>
          <a:ln w="12700">
            <a:solidFill>
              <a:srgbClr val="1C2B4A"/>
            </a:solidFill>
            <a:prstDash val="solid"/>
          </a:ln>
        </p:spPr>
      </p:sp>
      <p:sp>
        <p:nvSpPr>
          <p:cNvPr id="26" name="Shape 24"/>
          <p:cNvSpPr/>
          <p:nvPr/>
        </p:nvSpPr>
        <p:spPr>
          <a:xfrm>
            <a:off x="320040" y="2697480"/>
            <a:ext cx="2651760" cy="54864"/>
          </a:xfrm>
          <a:prstGeom prst="rect">
            <a:avLst/>
          </a:prstGeom>
          <a:solidFill>
            <a:srgbClr val="C9A84C"/>
          </a:solidFill>
          <a:ln w="12700">
            <a:solidFill>
              <a:srgbClr val="C9A84C"/>
            </a:solidFill>
            <a:prstDash val="solid"/>
          </a:ln>
        </p:spPr>
      </p:sp>
      <p:sp>
        <p:nvSpPr>
          <p:cNvPr id="27" name="Shape 25"/>
          <p:cNvSpPr/>
          <p:nvPr/>
        </p:nvSpPr>
        <p:spPr>
          <a:xfrm>
            <a:off x="429768" y="2825496"/>
            <a:ext cx="347472" cy="310896"/>
          </a:xfrm>
          <a:prstGeom prst="rect">
            <a:avLst/>
          </a:prstGeom>
          <a:solidFill>
            <a:srgbClr val="1C2B4A"/>
          </a:solidFill>
          <a:ln w="12700">
            <a:solidFill>
              <a:srgbClr val="1C2B4A"/>
            </a:solidFill>
            <a:prstDash val="solid"/>
          </a:ln>
        </p:spPr>
      </p:sp>
      <p:sp>
        <p:nvSpPr>
          <p:cNvPr id="28" name="Text 26"/>
          <p:cNvSpPr/>
          <p:nvPr/>
        </p:nvSpPr>
        <p:spPr>
          <a:xfrm>
            <a:off x="429768" y="2825496"/>
            <a:ext cx="347472" cy="310896"/>
          </a:xfrm>
          <a:prstGeom prst="rect">
            <a:avLst/>
          </a:prstGeom>
          <a:noFill/>
          <a:ln/>
        </p:spPr>
        <p:txBody>
          <a:bodyPr wrap="square" lIns="0" tIns="0" rIns="0" bIns="0" rtlCol="0" anchor="ctr"/>
          <a:lstStyle/>
          <a:p>
            <a:pPr marL="0" indent="0" algn="ctr">
              <a:buNone/>
            </a:pPr>
            <a:r>
              <a:rPr lang="en-US" sz="1000" b="1" dirty="0">
                <a:solidFill>
                  <a:srgbClr val="C9A84C"/>
                </a:solidFill>
                <a:latin typeface="Georgia" pitchFamily="34" charset="0"/>
                <a:ea typeface="Georgia" pitchFamily="34" charset="-122"/>
                <a:cs typeface="Georgia" pitchFamily="34" charset="-120"/>
              </a:rPr>
              <a:t>04</a:t>
            </a:r>
            <a:endParaRPr lang="en-US" sz="1000" dirty="0"/>
          </a:p>
        </p:txBody>
      </p:sp>
      <p:sp>
        <p:nvSpPr>
          <p:cNvPr id="29" name="Text 27"/>
          <p:cNvSpPr/>
          <p:nvPr/>
        </p:nvSpPr>
        <p:spPr>
          <a:xfrm>
            <a:off x="868680" y="2825496"/>
            <a:ext cx="2011680" cy="329184"/>
          </a:xfrm>
          <a:prstGeom prst="rect">
            <a:avLst/>
          </a:prstGeom>
          <a:noFill/>
          <a:ln/>
        </p:spPr>
        <p:txBody>
          <a:bodyPr wrap="square" rtlCol="0" anchor="ctr"/>
          <a:lstStyle/>
          <a:p>
            <a:pPr marL="0" indent="0">
              <a:buNone/>
            </a:pPr>
            <a:r>
              <a:rPr lang="en-US" sz="1100" b="1" dirty="0">
                <a:solidFill>
                  <a:srgbClr val="1C2B4A"/>
                </a:solidFill>
                <a:latin typeface="Georgia" pitchFamily="34" charset="0"/>
                <a:ea typeface="Georgia" pitchFamily="34" charset="-122"/>
                <a:cs typeface="Georgia" pitchFamily="34" charset="-120"/>
              </a:rPr>
              <a:t>Deep Learning Models</a:t>
            </a:r>
            <a:endParaRPr lang="en-US" sz="1100" dirty="0"/>
          </a:p>
        </p:txBody>
      </p:sp>
      <p:sp>
        <p:nvSpPr>
          <p:cNvPr id="30" name="Text 28"/>
          <p:cNvSpPr/>
          <p:nvPr/>
        </p:nvSpPr>
        <p:spPr>
          <a:xfrm>
            <a:off x="429768" y="3209544"/>
            <a:ext cx="2450592" cy="822960"/>
          </a:xfrm>
          <a:prstGeom prst="rect">
            <a:avLst/>
          </a:prstGeom>
          <a:noFill/>
          <a:ln/>
        </p:spPr>
        <p:txBody>
          <a:bodyPr wrap="square" rtlCol="0" anchor="t"/>
          <a:lstStyle/>
          <a:p>
            <a:pPr marL="0" indent="0">
              <a:buNone/>
            </a:pPr>
            <a:r>
              <a:rPr lang="en-US" sz="950" dirty="0">
                <a:solidFill>
                  <a:srgbClr val="2C3E5A"/>
                </a:solidFill>
                <a:latin typeface="Calibri" pitchFamily="34" charset="0"/>
                <a:ea typeface="Calibri" pitchFamily="34" charset="-122"/>
                <a:cs typeface="Calibri" pitchFamily="34" charset="-120"/>
              </a:rPr>
              <a:t>Incorporate LSTM or neural network architectures to capture complex temporal patterns in land price growth.</a:t>
            </a:r>
            <a:endParaRPr lang="en-US" sz="950" dirty="0"/>
          </a:p>
        </p:txBody>
      </p:sp>
      <p:sp>
        <p:nvSpPr>
          <p:cNvPr id="31" name="Shape 29"/>
          <p:cNvSpPr/>
          <p:nvPr/>
        </p:nvSpPr>
        <p:spPr>
          <a:xfrm>
            <a:off x="3200400" y="2697480"/>
            <a:ext cx="2651760" cy="1417320"/>
          </a:xfrm>
          <a:prstGeom prst="rect">
            <a:avLst/>
          </a:prstGeom>
          <a:solidFill>
            <a:srgbClr val="FFFFFF"/>
          </a:solidFill>
          <a:ln w="12700">
            <a:solidFill>
              <a:srgbClr val="1C2B4A"/>
            </a:solidFill>
            <a:prstDash val="solid"/>
          </a:ln>
        </p:spPr>
      </p:sp>
      <p:sp>
        <p:nvSpPr>
          <p:cNvPr id="32" name="Shape 30"/>
          <p:cNvSpPr/>
          <p:nvPr/>
        </p:nvSpPr>
        <p:spPr>
          <a:xfrm>
            <a:off x="3200400" y="2697480"/>
            <a:ext cx="2651760" cy="54864"/>
          </a:xfrm>
          <a:prstGeom prst="rect">
            <a:avLst/>
          </a:prstGeom>
          <a:solidFill>
            <a:srgbClr val="C9A84C"/>
          </a:solidFill>
          <a:ln w="12700">
            <a:solidFill>
              <a:srgbClr val="C9A84C"/>
            </a:solidFill>
            <a:prstDash val="solid"/>
          </a:ln>
        </p:spPr>
      </p:sp>
      <p:sp>
        <p:nvSpPr>
          <p:cNvPr id="33" name="Shape 31"/>
          <p:cNvSpPr/>
          <p:nvPr/>
        </p:nvSpPr>
        <p:spPr>
          <a:xfrm>
            <a:off x="3310128" y="2825496"/>
            <a:ext cx="347472" cy="310896"/>
          </a:xfrm>
          <a:prstGeom prst="rect">
            <a:avLst/>
          </a:prstGeom>
          <a:solidFill>
            <a:srgbClr val="1C2B4A"/>
          </a:solidFill>
          <a:ln w="12700">
            <a:solidFill>
              <a:srgbClr val="1C2B4A"/>
            </a:solidFill>
            <a:prstDash val="solid"/>
          </a:ln>
        </p:spPr>
      </p:sp>
      <p:sp>
        <p:nvSpPr>
          <p:cNvPr id="34" name="Text 32"/>
          <p:cNvSpPr/>
          <p:nvPr/>
        </p:nvSpPr>
        <p:spPr>
          <a:xfrm>
            <a:off x="3310128" y="2825496"/>
            <a:ext cx="347472" cy="310896"/>
          </a:xfrm>
          <a:prstGeom prst="rect">
            <a:avLst/>
          </a:prstGeom>
          <a:noFill/>
          <a:ln/>
        </p:spPr>
        <p:txBody>
          <a:bodyPr wrap="square" lIns="0" tIns="0" rIns="0" bIns="0" rtlCol="0" anchor="ctr"/>
          <a:lstStyle/>
          <a:p>
            <a:pPr marL="0" indent="0" algn="ctr">
              <a:buNone/>
            </a:pPr>
            <a:r>
              <a:rPr lang="en-US" sz="1000" b="1" dirty="0">
                <a:solidFill>
                  <a:srgbClr val="C9A84C"/>
                </a:solidFill>
                <a:latin typeface="Georgia" pitchFamily="34" charset="0"/>
                <a:ea typeface="Georgia" pitchFamily="34" charset="-122"/>
                <a:cs typeface="Georgia" pitchFamily="34" charset="-120"/>
              </a:rPr>
              <a:t>05</a:t>
            </a:r>
            <a:endParaRPr lang="en-US" sz="1000" dirty="0"/>
          </a:p>
        </p:txBody>
      </p:sp>
      <p:sp>
        <p:nvSpPr>
          <p:cNvPr id="35" name="Text 33"/>
          <p:cNvSpPr/>
          <p:nvPr/>
        </p:nvSpPr>
        <p:spPr>
          <a:xfrm>
            <a:off x="3749040" y="2825496"/>
            <a:ext cx="2011680" cy="329184"/>
          </a:xfrm>
          <a:prstGeom prst="rect">
            <a:avLst/>
          </a:prstGeom>
          <a:noFill/>
          <a:ln/>
        </p:spPr>
        <p:txBody>
          <a:bodyPr wrap="square" rtlCol="0" anchor="ctr"/>
          <a:lstStyle/>
          <a:p>
            <a:pPr marL="0" indent="0">
              <a:buNone/>
            </a:pPr>
            <a:r>
              <a:rPr lang="en-US" sz="1100" b="1" dirty="0">
                <a:solidFill>
                  <a:srgbClr val="1C2B4A"/>
                </a:solidFill>
                <a:latin typeface="Georgia" pitchFamily="34" charset="0"/>
                <a:ea typeface="Georgia" pitchFamily="34" charset="-122"/>
                <a:cs typeface="Georgia" pitchFamily="34" charset="-120"/>
              </a:rPr>
              <a:t>Geospatial Analysis</a:t>
            </a:r>
            <a:endParaRPr lang="en-US" sz="1100" dirty="0"/>
          </a:p>
        </p:txBody>
      </p:sp>
      <p:sp>
        <p:nvSpPr>
          <p:cNvPr id="36" name="Text 34"/>
          <p:cNvSpPr/>
          <p:nvPr/>
        </p:nvSpPr>
        <p:spPr>
          <a:xfrm>
            <a:off x="3310128" y="3209544"/>
            <a:ext cx="2450592" cy="822960"/>
          </a:xfrm>
          <a:prstGeom prst="rect">
            <a:avLst/>
          </a:prstGeom>
          <a:noFill/>
          <a:ln/>
        </p:spPr>
        <p:txBody>
          <a:bodyPr wrap="square" rtlCol="0" anchor="t"/>
          <a:lstStyle/>
          <a:p>
            <a:pPr marL="0" indent="0">
              <a:buNone/>
            </a:pPr>
            <a:r>
              <a:rPr lang="en-US" sz="950" dirty="0">
                <a:solidFill>
                  <a:srgbClr val="2C3E5A"/>
                </a:solidFill>
                <a:latin typeface="Calibri" pitchFamily="34" charset="0"/>
                <a:ea typeface="Calibri" pitchFamily="34" charset="-122"/>
                <a:cs typeface="Calibri" pitchFamily="34" charset="-120"/>
              </a:rPr>
              <a:t>Integrate GIS and satellite imagery to add spatial features like proximity to green zones and urban expansion corridors.</a:t>
            </a:r>
            <a:endParaRPr lang="en-US" sz="950" dirty="0"/>
          </a:p>
        </p:txBody>
      </p:sp>
      <p:sp>
        <p:nvSpPr>
          <p:cNvPr id="37" name="Shape 35"/>
          <p:cNvSpPr/>
          <p:nvPr/>
        </p:nvSpPr>
        <p:spPr>
          <a:xfrm>
            <a:off x="6080760" y="2697480"/>
            <a:ext cx="2651760" cy="1417320"/>
          </a:xfrm>
          <a:prstGeom prst="rect">
            <a:avLst/>
          </a:prstGeom>
          <a:solidFill>
            <a:srgbClr val="FFFFFF"/>
          </a:solidFill>
          <a:ln w="12700">
            <a:solidFill>
              <a:srgbClr val="1C2B4A"/>
            </a:solidFill>
            <a:prstDash val="solid"/>
          </a:ln>
        </p:spPr>
      </p:sp>
      <p:sp>
        <p:nvSpPr>
          <p:cNvPr id="38" name="Shape 36"/>
          <p:cNvSpPr/>
          <p:nvPr/>
        </p:nvSpPr>
        <p:spPr>
          <a:xfrm>
            <a:off x="6080760" y="2697480"/>
            <a:ext cx="2651760" cy="54864"/>
          </a:xfrm>
          <a:prstGeom prst="rect">
            <a:avLst/>
          </a:prstGeom>
          <a:solidFill>
            <a:srgbClr val="C9A84C"/>
          </a:solidFill>
          <a:ln w="12700">
            <a:solidFill>
              <a:srgbClr val="C9A84C"/>
            </a:solidFill>
            <a:prstDash val="solid"/>
          </a:ln>
        </p:spPr>
      </p:sp>
      <p:sp>
        <p:nvSpPr>
          <p:cNvPr id="39" name="Shape 37"/>
          <p:cNvSpPr/>
          <p:nvPr/>
        </p:nvSpPr>
        <p:spPr>
          <a:xfrm>
            <a:off x="6190488" y="2825496"/>
            <a:ext cx="347472" cy="310896"/>
          </a:xfrm>
          <a:prstGeom prst="rect">
            <a:avLst/>
          </a:prstGeom>
          <a:solidFill>
            <a:srgbClr val="1C2B4A"/>
          </a:solidFill>
          <a:ln w="12700">
            <a:solidFill>
              <a:srgbClr val="1C2B4A"/>
            </a:solidFill>
            <a:prstDash val="solid"/>
          </a:ln>
        </p:spPr>
      </p:sp>
      <p:sp>
        <p:nvSpPr>
          <p:cNvPr id="40" name="Text 38"/>
          <p:cNvSpPr/>
          <p:nvPr/>
        </p:nvSpPr>
        <p:spPr>
          <a:xfrm>
            <a:off x="6190488" y="2825496"/>
            <a:ext cx="347472" cy="310896"/>
          </a:xfrm>
          <a:prstGeom prst="rect">
            <a:avLst/>
          </a:prstGeom>
          <a:noFill/>
          <a:ln/>
        </p:spPr>
        <p:txBody>
          <a:bodyPr wrap="square" lIns="0" tIns="0" rIns="0" bIns="0" rtlCol="0" anchor="ctr"/>
          <a:lstStyle/>
          <a:p>
            <a:pPr marL="0" indent="0" algn="ctr">
              <a:buNone/>
            </a:pPr>
            <a:r>
              <a:rPr lang="en-US" sz="1000" b="1" dirty="0">
                <a:solidFill>
                  <a:srgbClr val="C9A84C"/>
                </a:solidFill>
                <a:latin typeface="Georgia" pitchFamily="34" charset="0"/>
                <a:ea typeface="Georgia" pitchFamily="34" charset="-122"/>
                <a:cs typeface="Georgia" pitchFamily="34" charset="-120"/>
              </a:rPr>
              <a:t>06</a:t>
            </a:r>
            <a:endParaRPr lang="en-US" sz="1000" dirty="0"/>
          </a:p>
        </p:txBody>
      </p:sp>
      <p:sp>
        <p:nvSpPr>
          <p:cNvPr id="41" name="Text 39"/>
          <p:cNvSpPr/>
          <p:nvPr/>
        </p:nvSpPr>
        <p:spPr>
          <a:xfrm>
            <a:off x="6629400" y="2825496"/>
            <a:ext cx="2011680" cy="329184"/>
          </a:xfrm>
          <a:prstGeom prst="rect">
            <a:avLst/>
          </a:prstGeom>
          <a:noFill/>
          <a:ln/>
        </p:spPr>
        <p:txBody>
          <a:bodyPr wrap="square" rtlCol="0" anchor="ctr"/>
          <a:lstStyle/>
          <a:p>
            <a:pPr marL="0" indent="0">
              <a:buNone/>
            </a:pPr>
            <a:r>
              <a:rPr lang="en-US" sz="1100" b="1" dirty="0">
                <a:solidFill>
                  <a:srgbClr val="1C2B4A"/>
                </a:solidFill>
                <a:latin typeface="Georgia" pitchFamily="34" charset="0"/>
                <a:ea typeface="Georgia" pitchFamily="34" charset="-122"/>
                <a:cs typeface="Georgia" pitchFamily="34" charset="-120"/>
              </a:rPr>
              <a:t>Mobile Application</a:t>
            </a:r>
            <a:endParaRPr lang="en-US" sz="1100" dirty="0"/>
          </a:p>
        </p:txBody>
      </p:sp>
      <p:sp>
        <p:nvSpPr>
          <p:cNvPr id="42" name="Text 40"/>
          <p:cNvSpPr/>
          <p:nvPr/>
        </p:nvSpPr>
        <p:spPr>
          <a:xfrm>
            <a:off x="6190488" y="3209544"/>
            <a:ext cx="2450592" cy="822960"/>
          </a:xfrm>
          <a:prstGeom prst="rect">
            <a:avLst/>
          </a:prstGeom>
          <a:noFill/>
          <a:ln/>
        </p:spPr>
        <p:txBody>
          <a:bodyPr wrap="square" rtlCol="0" anchor="t"/>
          <a:lstStyle/>
          <a:p>
            <a:pPr marL="0" indent="0">
              <a:buNone/>
            </a:pPr>
            <a:r>
              <a:rPr lang="en-US" sz="950" dirty="0">
                <a:solidFill>
                  <a:srgbClr val="2C3E5A"/>
                </a:solidFill>
                <a:latin typeface="Calibri" pitchFamily="34" charset="0"/>
                <a:ea typeface="Calibri" pitchFamily="34" charset="-122"/>
                <a:cs typeface="Calibri" pitchFamily="34" charset="-120"/>
              </a:rPr>
              <a:t>Develop a mobile-friendly interface so field agents and investors can get instant  future land price predictions on the go.</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C9A84C"/>
          </a:solidFill>
          <a:ln w="12700">
            <a:solidFill>
              <a:srgbClr val="C9A84C"/>
            </a:solidFill>
            <a:prstDash val="solid"/>
          </a:ln>
        </p:spPr>
      </p:sp>
      <p:sp>
        <p:nvSpPr>
          <p:cNvPr id="3" name="Shape 1"/>
          <p:cNvSpPr/>
          <p:nvPr/>
        </p:nvSpPr>
        <p:spPr>
          <a:xfrm>
            <a:off x="0" y="4983480"/>
            <a:ext cx="9144000" cy="164592"/>
          </a:xfrm>
          <a:prstGeom prst="rect">
            <a:avLst/>
          </a:prstGeom>
          <a:solidFill>
            <a:srgbClr val="C9A84C"/>
          </a:solidFill>
          <a:ln w="12700">
            <a:solidFill>
              <a:srgbClr val="C9A84C"/>
            </a:solidFill>
            <a:prstDash val="solid"/>
          </a:ln>
        </p:spPr>
      </p:sp>
      <p:sp>
        <p:nvSpPr>
          <p:cNvPr id="4" name="Shape 2"/>
          <p:cNvSpPr/>
          <p:nvPr/>
        </p:nvSpPr>
        <p:spPr>
          <a:xfrm>
            <a:off x="502920" y="1371600"/>
            <a:ext cx="73152" cy="2286000"/>
          </a:xfrm>
          <a:prstGeom prst="rect">
            <a:avLst/>
          </a:prstGeom>
          <a:solidFill>
            <a:srgbClr val="C9A84C"/>
          </a:solidFill>
          <a:ln w="12700">
            <a:solidFill>
              <a:srgbClr val="C9A84C"/>
            </a:solidFill>
            <a:prstDash val="solid"/>
          </a:ln>
        </p:spPr>
      </p:sp>
      <p:sp>
        <p:nvSpPr>
          <p:cNvPr id="5" name="Text 3"/>
          <p:cNvSpPr/>
          <p:nvPr/>
        </p:nvSpPr>
        <p:spPr>
          <a:xfrm>
            <a:off x="777240" y="1463040"/>
            <a:ext cx="7772400" cy="1097280"/>
          </a:xfrm>
          <a:prstGeom prst="rect">
            <a:avLst/>
          </a:prstGeom>
          <a:noFill/>
          <a:ln/>
        </p:spPr>
        <p:txBody>
          <a:bodyPr wrap="square"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Thank You</a:t>
            </a:r>
            <a:endParaRPr lang="en-US" sz="5200" dirty="0"/>
          </a:p>
        </p:txBody>
      </p:sp>
      <p:sp>
        <p:nvSpPr>
          <p:cNvPr id="6" name="Text 4"/>
          <p:cNvSpPr/>
          <p:nvPr/>
        </p:nvSpPr>
        <p:spPr>
          <a:xfrm>
            <a:off x="777240" y="2743200"/>
            <a:ext cx="7772400" cy="502920"/>
          </a:xfrm>
          <a:prstGeom prst="rect">
            <a:avLst/>
          </a:prstGeom>
          <a:noFill/>
          <a:ln/>
        </p:spPr>
        <p:txBody>
          <a:bodyPr wrap="square" rtlCol="0" anchor="ctr"/>
          <a:lstStyle/>
          <a:p>
            <a:pPr marL="0" indent="0">
              <a:buNone/>
            </a:pPr>
            <a:r>
              <a:rPr lang="en-US" sz="1600" i="1" dirty="0">
                <a:solidFill>
                  <a:srgbClr val="C9A84C"/>
                </a:solidFill>
                <a:latin typeface="Calibri" pitchFamily="34" charset="0"/>
                <a:ea typeface="Calibri" pitchFamily="34" charset="-122"/>
                <a:cs typeface="Calibri" pitchFamily="34" charset="-120"/>
              </a:rPr>
              <a:t>                                       Thank you for your time and attention.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1536</Words>
  <Application>Microsoft Office PowerPoint</Application>
  <PresentationFormat>On-screen Show (16:9)</PresentationFormat>
  <Paragraphs>202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Land Price Prediction</dc:title>
  <dc:subject>PptxGenJS Presentation</dc:subject>
  <dc:creator>PptxGenJS</dc:creator>
  <cp:lastModifiedBy>vanisha bolla</cp:lastModifiedBy>
  <cp:revision>8</cp:revision>
  <dcterms:created xsi:type="dcterms:W3CDTF">2026-03-25T10:56:28Z</dcterms:created>
  <dcterms:modified xsi:type="dcterms:W3CDTF">2026-04-04T11:42:12Z</dcterms:modified>
</cp:coreProperties>
</file>